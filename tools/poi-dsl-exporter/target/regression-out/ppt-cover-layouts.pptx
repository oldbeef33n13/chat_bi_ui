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vnd.openxmlformats-officedocument.spreadsheetml.sheet" Extension="xlsx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drawingml.chart+xml" PartName="/ppt/charts/chart1.xml"/>
  <Override ContentType="application/vnd.openxmlformats-officedocument.drawingml.chart+xml" PartName="/ppt/charts/chart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/Relationships>
</file>

<file path=ppt/charts/_rels/chart1.xml.rels><?xml version="1.0" encoding="UTF-8" standalone="yes"?><Relationships xmlns="http://schemas.openxmlformats.org/package/2006/relationships"><Relationship Id="rId1" Target="../embeddings/Microsoft_Excel_Worksheet1.xlsx" Type="http://schemas.openxmlformats.org/officeDocument/2006/relationships/package"/></Relationships>
</file>

<file path=ppt/charts/_rels/chart2.xml.rels><?xml version="1.0" encoding="UTF-8" standalone="yes"?><Relationships xmlns="http://schemas.openxmlformats.org/package/2006/relationships"><Relationship Id="rId1" Target="../embeddings/Microsoft_Excel_Worksheet2.xlsx" Type="http://schemas.openxmlformats.org/officeDocument/2006/relationships/package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渠道 GMV 趋势</a:t>
            </a:r>
            <a:endParaRPr lang="en-US" sz="1100"/>
          </a:p>
        </c:rich>
      </c:tx>
      <c:layout/>
      <c:overlay val="false"/>
    </c:title>
    <c:plotArea>
      <c:lineChart>
        <c:ser>
          <c:idx val="0"/>
          <c:order val="0"/>
          <c:tx>
            <c:v>APP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120.0</c:v>
              </c:pt>
              <c:pt idx="1">
                <c:v>132.0</c:v>
              </c:pt>
              <c:pt idx="2">
                <c:v>146.0</c:v>
              </c:pt>
            </c:numLit>
          </c:val>
        </c:ser>
        <c:ser>
          <c:idx val="1"/>
          <c:order val="1"/>
          <c:tx>
            <c:v>Web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82.0</c:v>
              </c:pt>
              <c:pt idx="1">
                <c:v>90.0</c:v>
              </c:pt>
              <c:pt idx="2">
                <c:v>98.0</c:v>
              </c:pt>
            </c:numLit>
          </c:val>
        </c:ser>
        <c:axId val="0"/>
        <c:axId val="1"/>
      </c:line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gmv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 anchor="t" rtlCol="false"/>
          <a:lstStyle/>
          <a:p>
            <a:pPr algn="l">
              <a:defRPr/>
            </a:pPr>
            <a:r>
              <a:rPr lang="zh-CN"/>
              <a:t>季度利润对比</a:t>
            </a:r>
            <a:endParaRPr lang="en-US" sz="1100"/>
          </a:p>
        </c:rich>
      </c:tx>
      <c:layout/>
      <c:overlay val="false"/>
    </c:title>
    <c:plotArea>
      <c:barChart>
        <c:barDir val="bar"/>
        <c:ser>
          <c:idx val="0"/>
          <c:order val="0"/>
          <c:tx>
            <c:v>APP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32.0</c:v>
              </c:pt>
              <c:pt idx="1">
                <c:v>36.0</c:v>
              </c:pt>
              <c:pt idx="2">
                <c:v>41.0</c:v>
              </c:pt>
            </c:numLit>
          </c:val>
        </c:ser>
        <c:ser>
          <c:idx val="1"/>
          <c:order val="1"/>
          <c:tx>
            <c:v>Web</c:v>
          </c:tx>
          <c:cat>
            <c:strLit>
              <c:ptCount val="3"/>
              <c:pt idx="0">
                <c:v>Jan</c:v>
              </c:pt>
              <c:pt idx="1">
                <c:v>Feb</c:v>
              </c:pt>
              <c:pt idx="2">
                <c:v>Mar</c:v>
              </c:pt>
            </c:strLit>
          </c:cat>
          <c:val>
            <c:numLit>
              <c:ptCount val="3"/>
              <c:pt idx="0">
                <c:v>19.0</c:v>
              </c:pt>
              <c:pt idx="1">
                <c:v>22.0</c:v>
              </c:pt>
              <c:pt idx="2">
                <c:v>24.0</c:v>
              </c:pt>
            </c:numLit>
          </c:val>
        </c:ser>
        <c:axId val="0"/>
        <c:axId val="1"/>
      </c:barChart>
      <c:catAx>
        <c:axId val="0"/>
        <c:scaling>
          <c:orientation val="minMax"/>
        </c:scaling>
        <c:delete val="false"/>
        <c:axPos val="b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month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1"/>
        <c:crosses val="autoZero"/>
        <c:auto val="false"/>
      </c:catAx>
      <c:valAx>
        <c:axId val="1"/>
        <c:scaling>
          <c:orientation val="minMax"/>
        </c:scaling>
        <c:delete val="false"/>
        <c:axPos val="l"/>
        <c:title>
          <c:tx>
            <c:rich>
              <a:bodyPr anchor="t" rtlCol="false"/>
              <a:lstStyle/>
              <a:p>
                <a:pPr algn="l">
                  <a:defRPr/>
                </a:pPr>
                <a:r>
                  <a:rPr lang="zh-CN"/>
                  <a:t>profit</a:t>
                </a:r>
                <a:endParaRPr lang="en-US" sz="1100"/>
              </a:p>
            </c:rich>
          </c:tx>
          <c:layout/>
          <c:overlay val="false"/>
        </c:title>
        <c:majorTickMark val="cross"/>
        <c:minorTickMark val="none"/>
        <c:tickLblPos val="nextTo"/>
        <c:crossAx val="0"/>
        <c:crosses val="autoZero"/>
        <c:crossBetween val="midCat"/>
      </c:valAx>
    </c:plotArea>
    <c:legend>
      <c:legendPos val="t"/>
      <c:overlay val="false"/>
    </c:legend>
  </c:chart>
  <c:externalData r:id="rId1"/>
</c:chartSpace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1.xml" Type="http://schemas.openxmlformats.org/officeDocument/2006/relationships/char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charts/chart2.xml" Type="http://schemas.openxmlformats.org/officeDocument/2006/relationships/char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封面</a:t>
            </a:r>
          </a:p>
        </p:txBody>
      </p:sp>
      <p:sp>
        <p:nvSpPr>
          <p:cNvPr name="TextBox 4" id="4"/>
          <p:cNvSpPr txBox="true"/>
          <p:nvPr/>
        </p:nvSpPr>
        <p:spPr>
          <a:xfrm>
            <a:off x="1016000" y="1651000"/>
            <a:ext cx="101600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4400" b="true">
                <a:solidFill>
                  <a:srgbClr val="1F2937"/>
                </a:solidFill>
                <a:ea typeface="Source Sans 3"/>
              </a:rPr>
              <a:t>经营复盘汇报</a:t>
            </a:r>
          </a:p>
        </p:txBody>
      </p:sp>
      <p:sp>
        <p:nvSpPr>
          <p:cNvPr name="TextBox 5" id="5"/>
          <p:cNvSpPr txBox="true"/>
          <p:nvPr/>
        </p:nvSpPr>
        <p:spPr>
          <a:xfrm>
            <a:off x="1016000" y="2857500"/>
            <a:ext cx="10160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2200" b="false">
                <a:solidFill>
                  <a:srgbClr val="1F2937"/>
                </a:solidFill>
                <a:latin typeface="Source Sans 3"/>
              </a:rPr>
              <a:t>Q1 Growth Review · Board Version</a:t>
            </a:r>
          </a:p>
        </p:txBody>
      </p:sp>
      <p:sp>
        <p:nvSpPr>
          <p:cNvPr name="TextBox 6" id="6"/>
          <p:cNvSpPr txBox="true"/>
          <p:nvPr/>
        </p:nvSpPr>
        <p:spPr>
          <a:xfrm>
            <a:off x="1016000" y="4572000"/>
            <a:ext cx="10160000" cy="76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600" b="false">
                <a:solidFill>
                  <a:srgbClr val="1F2937"/>
                </a:solidFill>
                <a:ea typeface="Source Sans 3"/>
              </a:rPr>
              <a:t>日期：2026-03-02  |  汇报人：运营分析组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图表 + 总结（左右布局）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457200" y="1168400"/>
          <a:ext cx="5461000" cy="3302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6248400" y="1168400"/>
            <a:ext cx="5461000" cy="3302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结论：
1) Q1 收入连续增长，3 月达到峰值。
2) APP 渠道增长更稳健，贡献占比持续提升。
3) 下一阶段建议重点优化 Web 转化链路。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c="http://schemas.openxmlformats.org/drawingml/2006/chart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</p:sp>
      <p:sp>
        <p:nvSpPr>
          <p:cNvPr name="TextBox 3" id="3"/>
          <p:cNvSpPr txBox="true"/>
          <p:nvPr/>
        </p:nvSpPr>
        <p:spPr>
          <a:xfrm>
            <a:off x="304800" y="152400"/>
            <a:ext cx="10922000" cy="508000"/>
          </a:xfrm>
          <a:prstGeom prst="rect">
            <a:avLst/>
          </a:prstGeom>
          <a:solidFill>
            <a:srgbClr val="FFFFFF">
              <a:alpha val="0"/>
            </a:srgbClr>
          </a:solidFill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true">
                <a:solidFill>
                  <a:srgbClr val="6B7280"/>
                </a:solidFill>
                <a:ea typeface="Source Sans 3"/>
              </a:rPr>
              <a:t>图表 + 总结（上下布局）</a:t>
            </a:r>
          </a:p>
        </p:txBody>
      </p:sp>
      <p:graphicFrame>
        <p:nvGraphicFramePr>
          <p:cNvPr name="Chart 4" id="4"/>
          <p:cNvGraphicFramePr>
            <a:graphicFrameLocks noGrp="true"/>
          </p:cNvGraphicFramePr>
          <p:nvPr/>
        </p:nvGraphicFramePr>
        <p:xfrm>
          <a:off x="1016000" y="1168400"/>
          <a:ext cx="10160000" cy="2794000"/>
        </p:xfrm>
        <a:graphic>
          <a:graphicData uri="http://schemas.openxmlformats.org/drawingml/2006/chart">
            <c:chart r:id="rId2"/>
          </a:graphicData>
        </a:graphic>
      </p:graphicFrame>
      <p:sp>
        <p:nvSpPr>
          <p:cNvPr name="TextBox 5" id="5"/>
          <p:cNvSpPr txBox="true"/>
          <p:nvPr/>
        </p:nvSpPr>
        <p:spPr>
          <a:xfrm>
            <a:off x="1016000" y="4191000"/>
            <a:ext cx="10160000" cy="2032000"/>
          </a:xfrm>
          <a:prstGeom prst="rect">
            <a:avLst/>
          </a:prstGeom>
          <a:solidFill>
            <a:srgbClr val="F8FBFF"/>
          </a:solidFill>
          <a:ln w="12700">
            <a:solidFill>
              <a:srgbClr val="D9E2F2"/>
            </a:solidFill>
          </a:ln>
        </p:spPr>
        <p:txBody>
          <a:bodyPr anchor="t" rtlCol="false"/>
          <a:lstStyle/>
          <a:p>
            <a:pPr algn="l">
              <a:defRPr/>
            </a:pPr>
            <a:r>
              <a:rPr lang="zh-CN"/>
              <a:t/>
            </a:r>
            <a:endParaRPr lang="en-US" sz="1100"/>
          </a:p>
          <a:p>
            <a:pPr algn="l"/>
            <a:r>
              <a:rPr lang="en-US" sz="1400" b="false">
                <a:solidFill>
                  <a:srgbClr val="1F2937"/>
                </a:solidFill>
                <a:ea typeface="Source Sans 3"/>
              </a:rPr>
              <a:t>总结：
- 利润结构较健康，APP 渠道利润贡献高于 Web。
- 2 月与 3 月增长趋势明确，适合持续加大高 ROI 投放。
- 建议补充按区域拆分，以支持下一轮预算决策。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