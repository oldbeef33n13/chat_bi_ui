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vnd.openxmlformats-officedocument.spreadsheetml.sheet" Extension="xlsx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drawingml.chart+xml" PartName="/ppt/charts/chart1.xml"/>
  <Override ContentType="application/vnd.openxmlformats-officedocument.drawingml.chart+xml" PartName="/ppt/charts/chart2.xml"/>
  <Override ContentType="application/vnd.openxmlformats-officedocument.drawingml.chart+xml" PartName="/ppt/charts/chart3.xml"/>
  <Override ContentType="application/vnd.openxmlformats-officedocument.drawingml.chart+xml" PartName="/ppt/charts/chart4.xml"/>
  <Override ContentType="application/vnd.openxmlformats-officedocument.drawingml.chart+xml" PartName="/ppt/charts/chart5.xml"/>
  <Override ContentType="application/vnd.openxmlformats-officedocument.drawingml.chart+xml" PartName="/ppt/charts/chart6.xml"/>
  <Override ContentType="application/vnd.openxmlformats-officedocument.drawingml.chart+xml" PartName="/ppt/charts/chart7.xml"/>
  <Override ContentType="application/vnd.openxmlformats-officedocument.drawingml.chart+xml" PartName="/ppt/charts/chart8.xml"/>
  <Override ContentType="application/vnd.openxmlformats-officedocument.drawingml.chart+xml" PartName="/ppt/charts/chart9.xml"/>
  <Override ContentType="application/vnd.openxmlformats-officedocument.drawingml.chart+xml" PartName="/ppt/charts/chart10.xml"/>
  <Override ContentType="application/vnd.openxmlformats-officedocument.drawingml.chart+xml" PartName="/ppt/charts/chart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charts/_rels/chart1.xml.rels><?xml version="1.0" encoding="UTF-8" standalone="yes"?><Relationships xmlns="http://schemas.openxmlformats.org/package/2006/relationships"><Relationship Id="rId1" Target="../embeddings/Microsoft_Excel_Worksheet1.xlsx" Type="http://schemas.openxmlformats.org/officeDocument/2006/relationships/package"/></Relationships>
</file>

<file path=ppt/charts/_rels/chart2.xml.rels><?xml version="1.0" encoding="UTF-8" standalone="yes"?><Relationships xmlns="http://schemas.openxmlformats.org/package/2006/relationships"><Relationship Id="rId1" Target="../embeddings/Microsoft_Excel_Worksheet2.xlsx" Type="http://schemas.openxmlformats.org/officeDocument/2006/relationships/package"/></Relationships>
</file>

<file path=ppt/charts/_rels/chart3.xml.rels><?xml version="1.0" encoding="UTF-8" standalone="yes"?><Relationships xmlns="http://schemas.openxmlformats.org/package/2006/relationships"><Relationship Id="rId1" Target="../embeddings/Microsoft_Excel_Worksheet3.xlsx" Type="http://schemas.openxmlformats.org/officeDocument/2006/relationships/package"/></Relationships>
</file>

<file path=ppt/charts/_rels/chart4.xml.rels><?xml version="1.0" encoding="UTF-8" standalone="yes"?><Relationships xmlns="http://schemas.openxmlformats.org/package/2006/relationships"><Relationship Id="rId1" Target="../embeddings/Microsoft_Excel_Worksheet4.xlsx" Type="http://schemas.openxmlformats.org/officeDocument/2006/relationships/package"/></Relationships>
</file>

<file path=ppt/charts/_rels/chart5.xml.rels><?xml version="1.0" encoding="UTF-8" standalone="yes"?><Relationships xmlns="http://schemas.openxmlformats.org/package/2006/relationships"><Relationship Id="rId1" Target="../embeddings/Microsoft_Excel_Worksheet5.xlsx" Type="http://schemas.openxmlformats.org/officeDocument/2006/relationships/package"/></Relationships>
</file>

<file path=ppt/charts/_rels/chart6.xml.rels><?xml version="1.0" encoding="UTF-8" standalone="yes"?><Relationships xmlns="http://schemas.openxmlformats.org/package/2006/relationships"><Relationship Id="rId1" Target="../embeddings/Microsoft_Excel_Worksheet6.xlsx" Type="http://schemas.openxmlformats.org/officeDocument/2006/relationships/package"/></Relationships>
</file>

<file path=ppt/charts/_rels/chart7.xml.rels><?xml version="1.0" encoding="UTF-8" standalone="yes"?><Relationships xmlns="http://schemas.openxmlformats.org/package/2006/relationships"><Relationship Id="rId1" Target="../embeddings/Microsoft_Excel_Worksheet7.xlsx" Type="http://schemas.openxmlformats.org/officeDocument/2006/relationships/package"/></Relationships>
</file>

<file path=ppt/charts/_rels/chart8.xml.rels><?xml version="1.0" encoding="UTF-8" standalone="yes"?><Relationships xmlns="http://schemas.openxmlformats.org/package/2006/relationships"><Relationship Id="rId1" Target="../embeddings/Microsoft_Excel_Worksheet8.xlsx" Type="http://schemas.openxmlformats.org/officeDocument/2006/relationships/package"/></Relationships>
</file>

<file path=ppt/charts/_rels/chart9.xml.rels><?xml version="1.0" encoding="UTF-8" standalone="yes"?><Relationships xmlns="http://schemas.openxmlformats.org/package/2006/relationships"><Relationship Id="rId1" Target="../embeddings/Microsoft_Excel_Worksheet9.xlsx" Type="http://schemas.openxmlformats.org/officeDocument/2006/relationships/package"/></Relationships>
</file>

<file path=ppt/charts/_rels/chart10.xml.rels><?xml version="1.0" encoding="UTF-8" standalone="yes"?><Relationships xmlns="http://schemas.openxmlformats.org/package/2006/relationships"><Relationship Id="rId1" Target="../embeddings/Microsoft_Excel_Worksheet10.xlsx" Type="http://schemas.openxmlformats.org/officeDocument/2006/relationships/package"/></Relationships>
</file>

<file path=ppt/charts/_rels/chart11.xml.rels><?xml version="1.0" encoding="UTF-8" standalone="yes"?><Relationships xmlns="http://schemas.openxmlformats.org/package/2006/relationships"><Relationship Id="rId1" Target="../embeddings/Microsoft_Excel_Worksheet11.xlsx" Type="http://schemas.openxmlformats.org/officeDocument/2006/relationships/package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收入趋势（分渠道）</a:t>
            </a:r>
            <a:endParaRPr lang="en-US" sz="1100"/>
          </a:p>
        </c:rich>
      </c:tx>
      <c:layout/>
      <c:overlay val="false"/>
    </c:title>
    <c:plotArea>
      <c:lineChart>
        <c:ser>
          <c:idx val="0"/>
          <c:order val="0"/>
          <c:tx>
            <c:v>直销</c:v>
          </c:tx>
          <c:cat>
            <c:strLit>
              <c:ptCount val="3"/>
              <c:pt idx="0">
                <c:v>Jan</c:v>
              </c:pt>
              <c:pt idx="1">
                <c:v>Feb</c:v>
              </c:pt>
              <c:pt idx="2">
                <c:v>Mar</c:v>
              </c:pt>
            </c:strLit>
          </c:cat>
          <c:val>
            <c:numLit>
              <c:ptCount val="3"/>
              <c:pt idx="0">
                <c:v>1820.0</c:v>
              </c:pt>
              <c:pt idx="1">
                <c:v>1905.0</c:v>
              </c:pt>
              <c:pt idx="2">
                <c:v>2010.0</c:v>
              </c:pt>
            </c:numLit>
          </c:val>
        </c:ser>
        <c:ser>
          <c:idx val="1"/>
          <c:order val="1"/>
          <c:tx>
            <c:v>线上</c:v>
          </c:tx>
          <c:cat>
            <c:strLit>
              <c:ptCount val="3"/>
              <c:pt idx="0">
                <c:v>Jan</c:v>
              </c:pt>
              <c:pt idx="1">
                <c:v>Feb</c:v>
              </c:pt>
              <c:pt idx="2">
                <c:v>Mar</c:v>
              </c:pt>
            </c:strLit>
          </c:cat>
          <c:val>
            <c:numLit>
              <c:ptCount val="3"/>
              <c:pt idx="0">
                <c:v>1460.0</c:v>
              </c:pt>
              <c:pt idx="1">
                <c:v>1530.0</c:v>
              </c:pt>
              <c:pt idx="2">
                <c:v>1660.0</c:v>
              </c:pt>
            </c:numLit>
          </c:val>
        </c:ser>
        <c:axId val="0"/>
        <c:axId val="1"/>
      </c:line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month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revenue_m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利润趋势（分渠道）</a:t>
            </a:r>
            <a:endParaRPr lang="en-US" sz="1100"/>
          </a:p>
        </c:rich>
      </c:tx>
      <c:layout/>
      <c:overlay val="false"/>
    </c:title>
    <c:plotArea>
      <c:barChart>
        <c:barDir val="bar"/>
        <c:ser>
          <c:idx val="0"/>
          <c:order val="0"/>
          <c:tx>
            <c:v>直销</c:v>
          </c:tx>
          <c:cat>
            <c:strLit>
              <c:ptCount val="3"/>
              <c:pt idx="0">
                <c:v>Jan</c:v>
              </c:pt>
              <c:pt idx="1">
                <c:v>Feb</c:v>
              </c:pt>
              <c:pt idx="2">
                <c:v>Mar</c:v>
              </c:pt>
            </c:strLit>
          </c:cat>
          <c:val>
            <c:numLit>
              <c:ptCount val="3"/>
              <c:pt idx="0">
                <c:v>540.0</c:v>
              </c:pt>
              <c:pt idx="1">
                <c:v>578.0</c:v>
              </c:pt>
              <c:pt idx="2">
                <c:v>624.0</c:v>
              </c:pt>
            </c:numLit>
          </c:val>
        </c:ser>
        <c:ser>
          <c:idx val="1"/>
          <c:order val="1"/>
          <c:tx>
            <c:v>线上</c:v>
          </c:tx>
          <c:cat>
            <c:strLit>
              <c:ptCount val="3"/>
              <c:pt idx="0">
                <c:v>Jan</c:v>
              </c:pt>
              <c:pt idx="1">
                <c:v>Feb</c:v>
              </c:pt>
              <c:pt idx="2">
                <c:v>Mar</c:v>
              </c:pt>
            </c:strLit>
          </c:cat>
          <c:val>
            <c:numLit>
              <c:ptCount val="3"/>
              <c:pt idx="0">
                <c:v>430.0</c:v>
              </c:pt>
              <c:pt idx="1">
                <c:v>455.0</c:v>
              </c:pt>
              <c:pt idx="2">
                <c:v>492.0</c:v>
              </c:pt>
            </c:numLit>
          </c:val>
        </c:ser>
        <c:axId val="0"/>
        <c:axId val="1"/>
      </c:bar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month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profit_m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SLA 与错误QPS</a:t>
            </a:r>
            <a:endParaRPr lang="en-US" sz="1100"/>
          </a:p>
        </c:rich>
      </c:tx>
      <c:layout/>
      <c:overlay val="false"/>
    </c:title>
    <c:plotArea>
      <c:barChart>
        <c:barDir val="bar"/>
        <c:ser>
          <c:idx val="0"/>
          <c:order val="0"/>
          <c:tx>
            <c:v>sla_pct</c:v>
          </c:tx>
          <c:cat>
            <c:strLit>
              <c:ptCount val="4"/>
              <c:pt idx="0">
                <c:v>W1</c:v>
              </c:pt>
              <c:pt idx="1">
                <c:v>W2</c:v>
              </c:pt>
              <c:pt idx="2">
                <c:v>W3</c:v>
              </c:pt>
              <c:pt idx="3">
                <c:v>W4</c:v>
              </c:pt>
            </c:strLit>
          </c:cat>
          <c:val>
            <c:numLit>
              <c:ptCount val="4"/>
              <c:pt idx="0">
                <c:v>99.95</c:v>
              </c:pt>
              <c:pt idx="1">
                <c:v>99.96</c:v>
              </c:pt>
              <c:pt idx="2">
                <c:v>99.97</c:v>
              </c:pt>
              <c:pt idx="3">
                <c:v>99.98</c:v>
              </c:pt>
            </c:numLit>
          </c:val>
        </c:ser>
        <c:axId val="0"/>
        <c:axId val="1"/>
      </c:barChart>
      <c:lineChart>
        <c:ser>
          <c:idx val="1"/>
          <c:order val="1"/>
          <c:tx>
            <c:v>err_qps</c:v>
          </c:tx>
          <c:cat>
            <c:strLit>
              <c:ptCount val="4"/>
              <c:pt idx="0">
                <c:v>W1</c:v>
              </c:pt>
              <c:pt idx="1">
                <c:v>W2</c:v>
              </c:pt>
              <c:pt idx="2">
                <c:v>W3</c:v>
              </c:pt>
              <c:pt idx="3">
                <c:v>W4</c:v>
              </c:pt>
            </c:strLit>
          </c:cat>
          <c:val>
            <c:numLit>
              <c:ptCount val="4"/>
              <c:pt idx="0">
                <c:v>62.0</c:v>
              </c:pt>
              <c:pt idx="1">
                <c:v>55.0</c:v>
              </c:pt>
              <c:pt idx="2">
                <c:v>49.0</c:v>
              </c:pt>
              <c:pt idx="3">
                <c:v>41.0</c:v>
              </c:pt>
            </c:numLit>
          </c:val>
        </c:ser>
        <c:axId val="0"/>
        <c:axId val="2"/>
      </c:line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week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sla_pct, err_qps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  <c:valAx>
        <c:axId val="2"/>
        <c:scaling>
          <c:orientation val="minMax"/>
        </c:scaling>
        <c:delete val="false"/>
        <c:axPos val="r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err_qps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P95 时延（ms）</a:t>
            </a:r>
            <a:endParaRPr lang="en-US" sz="1100"/>
          </a:p>
        </c:rich>
      </c:tx>
      <c:layout/>
      <c:overlay val="false"/>
    </c:title>
    <c:plotArea>
      <c:lineChart>
        <c:ser>
          <c:idx val="0"/>
          <c:order val="0"/>
          <c:tx>
            <c:v>p95_ms</c:v>
          </c:tx>
          <c:cat>
            <c:strLit>
              <c:ptCount val="4"/>
              <c:pt idx="0">
                <c:v>W1</c:v>
              </c:pt>
              <c:pt idx="1">
                <c:v>W2</c:v>
              </c:pt>
              <c:pt idx="2">
                <c:v>W3</c:v>
              </c:pt>
              <c:pt idx="3">
                <c:v>W4</c:v>
              </c:pt>
            </c:strLit>
          </c:cat>
          <c:val>
            <c:numLit>
              <c:ptCount val="4"/>
              <c:pt idx="0">
                <c:v>83.0</c:v>
              </c:pt>
              <c:pt idx="1">
                <c:v>80.0</c:v>
              </c:pt>
              <c:pt idx="2">
                <c:v>77.0</c:v>
              </c:pt>
              <c:pt idx="3">
                <c:v>74.0</c:v>
              </c:pt>
            </c:numLit>
          </c:val>
        </c:ser>
        <c:axId val="0"/>
        <c:axId val="1"/>
      </c:line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week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p95_ms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项目推进度</a:t>
            </a:r>
            <a:endParaRPr lang="en-US" sz="1100"/>
          </a:p>
        </c:rich>
      </c:tx>
      <c:layout/>
      <c:overlay val="false"/>
    </c:title>
    <c:plotArea>
      <c:barChart>
        <c:barDir val="bar"/>
        <c:ser>
          <c:idx val="0"/>
          <c:order val="0"/>
          <c:tx>
            <c:v>progress</c:v>
          </c:tx>
          <c:cat>
            <c:strLit>
              <c:ptCount val="5"/>
              <c:pt idx="0">
                <c:v>链路治理2.0</c:v>
              </c:pt>
              <c:pt idx="1">
                <c:v>告警降噪</c:v>
              </c:pt>
              <c:pt idx="2">
                <c:v>发布门禁</c:v>
              </c:pt>
              <c:pt idx="3">
                <c:v>成本优化</c:v>
              </c:pt>
              <c:pt idx="4">
                <c:v>客户旅程改造</c:v>
              </c:pt>
            </c:strLit>
          </c:cat>
          <c:val>
            <c:numLit>
              <c:ptCount val="5"/>
              <c:pt idx="0">
                <c:v>92.0</c:v>
              </c:pt>
              <c:pt idx="1">
                <c:v>84.0</c:v>
              </c:pt>
              <c:pt idx="2">
                <c:v>76.0</c:v>
              </c:pt>
              <c:pt idx="3">
                <c:v>68.0</c:v>
              </c:pt>
              <c:pt idx="4">
                <c:v>57.0</c:v>
              </c:pt>
            </c:numLit>
          </c:val>
        </c:ser>
        <c:axId val="0"/>
        <c:axId val="1"/>
      </c:bar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program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progress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风险评分</a:t>
            </a:r>
            <a:endParaRPr lang="en-US" sz="1100"/>
          </a:p>
        </c:rich>
      </c:tx>
      <c:layout/>
      <c:overlay val="false"/>
    </c:title>
    <c:plotArea>
      <c:barChart>
        <c:barDir val="bar"/>
        <c:ser>
          <c:idx val="0"/>
          <c:order val="0"/>
          <c:tx>
            <c:v>risk</c:v>
          </c:tx>
          <c:cat>
            <c:strLit>
              <c:ptCount val="5"/>
              <c:pt idx="0">
                <c:v>链路治理2.0</c:v>
              </c:pt>
              <c:pt idx="1">
                <c:v>告警降噪</c:v>
              </c:pt>
              <c:pt idx="2">
                <c:v>发布门禁</c:v>
              </c:pt>
              <c:pt idx="3">
                <c:v>成本优化</c:v>
              </c:pt>
              <c:pt idx="4">
                <c:v>客户旅程改造</c:v>
              </c:pt>
            </c:strLit>
          </c:cat>
          <c:val>
            <c:numLit>
              <c:ptCount val="5"/>
              <c:pt idx="0">
                <c:v>36.0</c:v>
              </c:pt>
              <c:pt idx="1">
                <c:v>42.0</c:v>
              </c:pt>
              <c:pt idx="2">
                <c:v>48.0</c:v>
              </c:pt>
              <c:pt idx="3">
                <c:v>39.0</c:v>
              </c:pt>
              <c:pt idx="4">
                <c:v>53.0</c:v>
              </c:pt>
            </c:numLit>
          </c:val>
        </c:ser>
        <c:axId val="0"/>
        <c:axId val="1"/>
      </c:bar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program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risk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时延 vs 错误QPS</a:t>
            </a:r>
            <a:endParaRPr lang="en-US" sz="1100"/>
          </a:p>
        </c:rich>
      </c:tx>
      <c:layout/>
      <c:overlay val="false"/>
    </c:title>
    <c:plotArea>
      <c:scatterChart>
        <c:ser>
          <c:idx val="0"/>
          <c:order val="0"/>
          <c:tx>
            <c:v>err_qps</c:v>
          </c:tx>
          <c:marker>
            <c:symbol val="none"/>
          </c:marker>
          <c:xVal>
            <c:numLit>
              <c:ptCount val="4"/>
              <c:pt idx="0">
                <c:v>83.0</c:v>
              </c:pt>
              <c:pt idx="1">
                <c:v>80.0</c:v>
              </c:pt>
              <c:pt idx="2">
                <c:v>77.0</c:v>
              </c:pt>
              <c:pt idx="3">
                <c:v>74.0</c:v>
              </c:pt>
            </c:numLit>
          </c:xVal>
          <c:yVal>
            <c:numLit>
              <c:ptCount val="4"/>
              <c:pt idx="0">
                <c:v>62.0</c:v>
              </c:pt>
              <c:pt idx="1">
                <c:v>55.0</c:v>
              </c:pt>
              <c:pt idx="2">
                <c:v>49.0</c:v>
              </c:pt>
              <c:pt idx="3">
                <c:v>41.0</c:v>
              </c:pt>
            </c:numLit>
          </c:yVal>
        </c:ser>
        <c:axId val="0"/>
        <c:axId val="1"/>
      </c:scatterChart>
      <c:val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p95_ms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crossBetween val="midCat"/>
      </c:val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err_qps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项目风险雷达</a:t>
            </a:r>
            <a:endParaRPr lang="en-US" sz="1100"/>
          </a:p>
        </c:rich>
      </c:tx>
      <c:layout/>
      <c:overlay val="false"/>
    </c:title>
    <c:plotArea>
      <c:radarChart>
        <c:radarStyle val="marker"/>
        <c:ser>
          <c:idx val="0"/>
          <c:order val="0"/>
          <c:tx>
            <c:v>risk</c:v>
          </c:tx>
          <c:cat>
            <c:strLit>
              <c:ptCount val="5"/>
              <c:pt idx="0">
                <c:v>链路治理2.0</c:v>
              </c:pt>
              <c:pt idx="1">
                <c:v>告警降噪</c:v>
              </c:pt>
              <c:pt idx="2">
                <c:v>发布门禁</c:v>
              </c:pt>
              <c:pt idx="3">
                <c:v>成本优化</c:v>
              </c:pt>
              <c:pt idx="4">
                <c:v>客户旅程改造</c:v>
              </c:pt>
            </c:strLit>
          </c:cat>
          <c:val>
            <c:numLit>
              <c:ptCount val="5"/>
              <c:pt idx="0">
                <c:v>36.0</c:v>
              </c:pt>
              <c:pt idx="1">
                <c:v>42.0</c:v>
              </c:pt>
              <c:pt idx="2">
                <c:v>48.0</c:v>
              </c:pt>
              <c:pt idx="3">
                <c:v>39.0</c:v>
              </c:pt>
              <c:pt idx="4">
                <c:v>53.0</c:v>
              </c:pt>
            </c:numLit>
          </c:val>
        </c:ser>
        <c:axId val="0"/>
        <c:axId val="1"/>
      </c:radarChart>
      <c:catAx>
        <c:axId val="0"/>
        <c:scaling>
          <c:orientation val="minMax"/>
        </c:scaling>
        <c:delete val="false"/>
        <c:axPos val="b"/>
        <c:majorGridlines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program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majorGridlines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risk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项目推进结构树图</a:t>
            </a:r>
            <a:endParaRPr lang="en-US" sz="1100"/>
          </a:p>
        </c:rich>
      </c:tx>
      <c:layout/>
      <c:overlay val="false"/>
    </c:title>
    <c:plotArea>
      <c:pieChart>
        <c:ser>
          <c:idx val="0"/>
          <c:order val="0"/>
          <c:tx>
            <c:v>progress</c:v>
          </c:tx>
          <c:cat>
            <c:strLit>
              <c:ptCount val="5"/>
              <c:pt idx="0">
                <c:v>链路治理2.0</c:v>
              </c:pt>
              <c:pt idx="1">
                <c:v>告警降噪</c:v>
              </c:pt>
              <c:pt idx="2">
                <c:v>发布门禁</c:v>
              </c:pt>
              <c:pt idx="3">
                <c:v>成本优化</c:v>
              </c:pt>
              <c:pt idx="4">
                <c:v>客户旅程改造</c:v>
              </c:pt>
            </c:strLit>
          </c:cat>
          <c:val>
            <c:numLit>
              <c:ptCount val="5"/>
              <c:pt idx="0">
                <c:v>92.0</c:v>
              </c:pt>
              <c:pt idx="1">
                <c:v>84.0</c:v>
              </c:pt>
              <c:pt idx="2">
                <c:v>76.0</c:v>
              </c:pt>
              <c:pt idx="3">
                <c:v>68.0</c:v>
              </c:pt>
              <c:pt idx="4">
                <c:v>57.0</c:v>
              </c:pt>
            </c:numLit>
          </c:val>
        </c:ser>
      </c:pieChart>
    </c:plotArea>
    <c:legend>
      <c:legendPos val="t"/>
      <c:overlay val="false"/>
    </c:legend>
  </c:chart>
  <c:externalData r:id="rId1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SLA 指针</a:t>
            </a:r>
            <a:endParaRPr lang="en-US" sz="1100"/>
          </a:p>
        </c:rich>
      </c:tx>
      <c:layout/>
      <c:overlay val="false"/>
    </c:title>
    <c:plotArea>
      <c:pieChart>
        <c:ser>
          <c:idx val="0"/>
          <c:order val="0"/>
          <c:tx>
            <c:v>gauge</c:v>
          </c:tx>
          <c:cat>
            <c:strLit>
              <c:ptCount val="2"/>
              <c:pt idx="0">
                <c:v>value</c:v>
              </c:pt>
              <c:pt idx="1">
                <c:v>rest</c:v>
              </c:pt>
            </c:strLit>
          </c:cat>
          <c:val>
            <c:numLit>
              <c:ptCount val="2"/>
              <c:pt idx="0">
                <c:v>99.965</c:v>
              </c:pt>
              <c:pt idx="1">
                <c:v>0.03499999999999659</c:v>
              </c:pt>
            </c:numLit>
          </c:val>
        </c:ser>
      </c:pieChart>
    </c:plotArea>
    <c:legend>
      <c:legendPos val="t"/>
      <c:overlay val="false"/>
    </c:legend>
  </c:chart>
  <c:externalData r:id="rId1"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custom(optionPatch-&gt;bar)</a:t>
            </a:r>
            <a:endParaRPr lang="en-US" sz="1100"/>
          </a:p>
        </c:rich>
      </c:tx>
      <c:layout/>
      <c:overlay val="false"/>
    </c:title>
    <c:plotArea>
      <c:barChart>
        <c:barDir val="bar"/>
        <c:ser>
          <c:idx val="0"/>
          <c:order val="0"/>
          <c:tx>
            <c:v>risk</c:v>
          </c:tx>
          <c:cat>
            <c:strLit>
              <c:ptCount val="5"/>
              <c:pt idx="0">
                <c:v>链路治理2.0</c:v>
              </c:pt>
              <c:pt idx="1">
                <c:v>告警降噪</c:v>
              </c:pt>
              <c:pt idx="2">
                <c:v>发布门禁</c:v>
              </c:pt>
              <c:pt idx="3">
                <c:v>成本优化</c:v>
              </c:pt>
              <c:pt idx="4">
                <c:v>客户旅程改造</c:v>
              </c:pt>
            </c:strLit>
          </c:cat>
          <c:val>
            <c:numLit>
              <c:ptCount val="5"/>
              <c:pt idx="0">
                <c:v>36.0</c:v>
              </c:pt>
              <c:pt idx="1">
                <c:v>42.0</c:v>
              </c:pt>
              <c:pt idx="2">
                <c:v>48.0</c:v>
              </c:pt>
              <c:pt idx="3">
                <c:v>39.0</c:v>
              </c:pt>
              <c:pt idx="4">
                <c:v>53.0</c:v>
              </c:pt>
            </c:numLit>
          </c:val>
        </c:ser>
        <c:axId val="0"/>
        <c:axId val="1"/>
      </c:bar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program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risk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charts/chart1.xml" Type="http://schemas.openxmlformats.org/officeDocument/2006/relationships/char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charts/chart2.xml" Type="http://schemas.openxmlformats.org/officeDocument/2006/relationships/char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charts/chart3.xml" Type="http://schemas.openxmlformats.org/officeDocument/2006/relationships/chart"/><Relationship Id="rId3" Target="../charts/chart4.xml" Type="http://schemas.openxmlformats.org/officeDocument/2006/relationships/char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charts/chart5.xml" Type="http://schemas.openxmlformats.org/officeDocument/2006/relationships/chart"/><Relationship Id="rId3" Target="../charts/chart6.xml" Type="http://schemas.openxmlformats.org/officeDocument/2006/relationships/char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charts/chart7.xml" Type="http://schemas.openxmlformats.org/officeDocument/2006/relationships/chart"/><Relationship Id="rId3" Target="../charts/chart8.xml" Type="http://schemas.openxmlformats.org/officeDocument/2006/relationships/chart"/><Relationship Id="rId4" Target="../charts/chart9.xml" Type="http://schemas.openxmlformats.org/officeDocument/2006/relationships/chart"/><Relationship Id="rId5" Target="../charts/chart10.xml" Type="http://schemas.openxmlformats.org/officeDocument/2006/relationships/chart"/><Relationship Id="rId6" Target="../charts/chart11.xml" Type="http://schemas.openxmlformats.org/officeDocument/2006/relationships/char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304800" y="152400"/>
            <a:ext cx="10922000" cy="508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true">
                <a:solidFill>
                  <a:srgbClr val="6B7280"/>
                </a:solidFill>
                <a:ea typeface="Source Sans 3"/>
              </a:rPr>
              <a:t>封面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838200" y="1905000"/>
            <a:ext cx="106680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4400" b="true">
                <a:solidFill>
                  <a:srgbClr val="1F2937"/>
                </a:solidFill>
                <a:ea typeface="Source Sans 3"/>
              </a:rPr>
              <a:t>数字化转型季度复盘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838200" y="3048000"/>
            <a:ext cx="106680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2000" b="false">
                <a:solidFill>
                  <a:srgbClr val="1F2937"/>
                </a:solidFill>
                <a:latin typeface="Source Sans 3"/>
              </a:rPr>
              <a:t>Q1 Management Review · Internal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838200" y="4724400"/>
            <a:ext cx="10668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600" b="false">
                <a:solidFill>
                  <a:srgbClr val="1F2937"/>
                </a:solidFill>
                <a:ea typeface="Source Sans 3"/>
              </a:rPr>
              <a:t>汇报团队：经营 + 平台联合办公室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304800" y="152400"/>
            <a:ext cx="10922000" cy="508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true">
                <a:solidFill>
                  <a:srgbClr val="6B7280"/>
                </a:solidFill>
                <a:ea typeface="Source Sans 3"/>
              </a:rPr>
              <a:t>议程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1143000" y="1168400"/>
            <a:ext cx="9906000" cy="4318000"/>
          </a:xfrm>
          <a:prstGeom prst="rect">
            <a:avLst/>
          </a:prstGeom>
          <a:solidFill>
            <a:srgbClr val="F8FB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2400" b="false">
                <a:solidFill>
                  <a:srgbClr val="1F2937"/>
                </a:solidFill>
                <a:latin typeface="Source Sans 3"/>
              </a:rPr>
              <a:t>1) 经营目标达成与结构变化
2) 平台稳定性与客户体验
3) 转型项目推进与风险
4) 下季度决策请求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304800" y="152400"/>
            <a:ext cx="10922000" cy="508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true">
                <a:solidFill>
                  <a:srgbClr val="6B7280"/>
                </a:solidFill>
                <a:ea typeface="Source Sans 3"/>
              </a:rPr>
              <a:t>管理层摘要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889000" y="1168400"/>
            <a:ext cx="10414000" cy="4572000"/>
          </a:xfrm>
          <a:prstGeom prst="rect">
            <a:avLst/>
          </a:prstGeom>
          <a:solidFill>
            <a:srgbClr val="F8FB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1F2937"/>
                </a:solidFill>
                <a:ea typeface="Source Sans 3"/>
              </a:rPr>
              <a:t>核心结论：
- 收入、利润、订单规模三项核心指标连续三月上行。
- 平台 SLA 稳定在 99.95% 以上，错误QPS持续下降。
- 转型项目推进整体受控，但客户旅程改造风险需重点跟进。
建议：
- 下季度继续加大链路治理与发布门禁投入。
- 针对 SMB 客户建立体验修复专项，降低流失风险。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304800" y="152400"/>
            <a:ext cx="10922000" cy="508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true">
                <a:solidFill>
                  <a:srgbClr val="6B7280"/>
                </a:solidFill>
                <a:ea typeface="Source Sans 3"/>
              </a:rPr>
              <a:t>经营增长（图表 + 总结左右布局）</a:t>
            </a:r>
          </a:p>
        </p:txBody>
      </p:sp>
      <p:graphicFrame>
        <p:nvGraphicFramePr>
          <p:cNvPr name="Chart 4" id="4"/>
          <p:cNvGraphicFramePr>
            <a:graphicFrameLocks noGrp="true"/>
          </p:cNvGraphicFramePr>
          <p:nvPr/>
        </p:nvGraphicFramePr>
        <p:xfrm>
          <a:off x="457200" y="1168400"/>
          <a:ext cx="5461000" cy="33655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name="TextBox 5" id="5"/>
          <p:cNvSpPr txBox="true"/>
          <p:nvPr/>
        </p:nvSpPr>
        <p:spPr>
          <a:xfrm>
            <a:off x="6248400" y="1168400"/>
            <a:ext cx="5461000" cy="3365500"/>
          </a:xfrm>
          <a:prstGeom prst="rect">
            <a:avLst/>
          </a:prstGeom>
          <a:solidFill>
            <a:srgbClr val="F8FB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1F2937"/>
                </a:solidFill>
                <a:ea typeface="Source Sans 3"/>
              </a:rPr>
              <a:t>经营洞察：
1) 直销与线上双轮驱动，线上订单规模增速更快。
2) 渠道结构优化拉动利润率改善。
3) 可继续扩大高ROI渠道预算占比。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304800" y="152400"/>
            <a:ext cx="10922000" cy="508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true">
                <a:solidFill>
                  <a:srgbClr val="6B7280"/>
                </a:solidFill>
                <a:ea typeface="Source Sans 3"/>
              </a:rPr>
              <a:t>利润与订单（图表 + 总结上下布局）</a:t>
            </a:r>
          </a:p>
        </p:txBody>
      </p:sp>
      <p:graphicFrame>
        <p:nvGraphicFramePr>
          <p:cNvPr name="Chart 4" id="4"/>
          <p:cNvGraphicFramePr>
            <a:graphicFrameLocks noGrp="true"/>
          </p:cNvGraphicFramePr>
          <p:nvPr/>
        </p:nvGraphicFramePr>
        <p:xfrm>
          <a:off x="1016000" y="1168400"/>
          <a:ext cx="10160000" cy="27940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name="TextBox 5" id="5"/>
          <p:cNvSpPr txBox="true"/>
          <p:nvPr/>
        </p:nvSpPr>
        <p:spPr>
          <a:xfrm>
            <a:off x="1016000" y="4191000"/>
            <a:ext cx="10160000" cy="1905000"/>
          </a:xfrm>
          <a:prstGeom prst="rect">
            <a:avLst/>
          </a:prstGeom>
          <a:solidFill>
            <a:srgbClr val="F8FB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1F2937"/>
                </a:solidFill>
                <a:ea typeface="Source Sans 3"/>
              </a:rPr>
              <a:t>结论：
- 两条渠道利润贡献均改善，线上效率提升最明显。
- 订单规模上行与利润改善保持一致，增长质量较高。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304800" y="152400"/>
            <a:ext cx="10922000" cy="508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true">
                <a:solidFill>
                  <a:srgbClr val="6B7280"/>
                </a:solidFill>
                <a:ea typeface="Source Sans 3"/>
              </a:rPr>
              <a:t>稳定性与体验</a:t>
            </a:r>
          </a:p>
        </p:txBody>
      </p:sp>
      <p:graphicFrame>
        <p:nvGraphicFramePr>
          <p:cNvPr name="Chart 4" id="4"/>
          <p:cNvGraphicFramePr>
            <a:graphicFrameLocks noGrp="true"/>
          </p:cNvGraphicFramePr>
          <p:nvPr/>
        </p:nvGraphicFramePr>
        <p:xfrm>
          <a:off x="457200" y="1168400"/>
          <a:ext cx="5461000" cy="3365500"/>
        </p:xfrm>
        <a:graphic>
          <a:graphicData uri="http://schemas.openxmlformats.org/drawingml/2006/chart">
            <c:chart r:id="rId2"/>
          </a:graphicData>
        </a:graphic>
      </p:graphicFrame>
      <p:graphicFrame>
        <p:nvGraphicFramePr>
          <p:cNvPr name="Chart 5" id="5"/>
          <p:cNvGraphicFramePr>
            <a:graphicFrameLocks noGrp="true"/>
          </p:cNvGraphicFramePr>
          <p:nvPr/>
        </p:nvGraphicFramePr>
        <p:xfrm>
          <a:off x="6248400" y="1168400"/>
          <a:ext cx="5461000" cy="33655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name="TextBox 6" id="6"/>
          <p:cNvSpPr txBox="true"/>
          <p:nvPr/>
        </p:nvSpPr>
        <p:spPr>
          <a:xfrm>
            <a:off x="1016000" y="4762500"/>
            <a:ext cx="10160000" cy="1460500"/>
          </a:xfrm>
          <a:prstGeom prst="rect">
            <a:avLst/>
          </a:prstGeom>
          <a:solidFill>
            <a:srgbClr val="F8FB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1F2937"/>
                </a:solidFill>
                <a:ea typeface="Source Sans 3"/>
              </a:rPr>
              <a:t>稳定性结果：异常波动频次下降，关键链路体验改善。下一步重点压降低峰抖动与尾时延。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304800" y="152400"/>
            <a:ext cx="10922000" cy="508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true">
                <a:solidFill>
                  <a:srgbClr val="6B7280"/>
                </a:solidFill>
                <a:ea typeface="Source Sans 3"/>
              </a:rPr>
              <a:t>转型项目推进与风险</a:t>
            </a:r>
          </a:p>
        </p:txBody>
      </p:sp>
      <p:graphicFrame>
        <p:nvGraphicFramePr>
          <p:cNvPr name="Chart 4" id="4"/>
          <p:cNvGraphicFramePr>
            <a:graphicFrameLocks noGrp="true"/>
          </p:cNvGraphicFramePr>
          <p:nvPr/>
        </p:nvGraphicFramePr>
        <p:xfrm>
          <a:off x="457200" y="1168400"/>
          <a:ext cx="5461000" cy="3365500"/>
        </p:xfrm>
        <a:graphic>
          <a:graphicData uri="http://schemas.openxmlformats.org/drawingml/2006/chart">
            <c:chart r:id="rId2"/>
          </a:graphicData>
        </a:graphic>
      </p:graphicFrame>
      <p:graphicFrame>
        <p:nvGraphicFramePr>
          <p:cNvPr name="Chart 5" id="5"/>
          <p:cNvGraphicFramePr>
            <a:graphicFrameLocks noGrp="true"/>
          </p:cNvGraphicFramePr>
          <p:nvPr/>
        </p:nvGraphicFramePr>
        <p:xfrm>
          <a:off x="6248400" y="1168400"/>
          <a:ext cx="5461000" cy="33655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name="TextBox 6" id="6"/>
          <p:cNvSpPr txBox="true"/>
          <p:nvPr/>
        </p:nvSpPr>
        <p:spPr>
          <a:xfrm>
            <a:off x="1016000" y="4762500"/>
            <a:ext cx="10160000" cy="1460500"/>
          </a:xfrm>
          <a:prstGeom prst="rect">
            <a:avLst/>
          </a:prstGeom>
          <a:solidFill>
            <a:srgbClr val="F8FB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1F2937"/>
                </a:solidFill>
                <a:ea typeface="Source Sans 3"/>
              </a:rPr>
              <a:t>重点事项：客户旅程改造风险偏高，需建立跨团队里程碑与验收机制，防止项目拖期。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304800" y="152400"/>
            <a:ext cx="10922000" cy="508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true">
                <a:solidFill>
                  <a:srgbClr val="6B7280"/>
                </a:solidFill>
                <a:ea typeface="Source Sans 3"/>
              </a:rPr>
              <a:t>多图表类型视角</a:t>
            </a:r>
          </a:p>
        </p:txBody>
      </p:sp>
      <p:graphicFrame>
        <p:nvGraphicFramePr>
          <p:cNvPr name="Chart 4" id="4"/>
          <p:cNvGraphicFramePr>
            <a:graphicFrameLocks noGrp="true"/>
          </p:cNvGraphicFramePr>
          <p:nvPr/>
        </p:nvGraphicFramePr>
        <p:xfrm>
          <a:off x="254000" y="1168400"/>
          <a:ext cx="3810000" cy="2413000"/>
        </p:xfrm>
        <a:graphic>
          <a:graphicData uri="http://schemas.openxmlformats.org/drawingml/2006/chart">
            <c:chart r:id="rId2"/>
          </a:graphicData>
        </a:graphic>
      </p:graphicFrame>
      <p:graphicFrame>
        <p:nvGraphicFramePr>
          <p:cNvPr name="Chart 5" id="5"/>
          <p:cNvGraphicFramePr>
            <a:graphicFrameLocks noGrp="true"/>
          </p:cNvGraphicFramePr>
          <p:nvPr/>
        </p:nvGraphicFramePr>
        <p:xfrm>
          <a:off x="4191000" y="1168400"/>
          <a:ext cx="3810000" cy="2413000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name="Chart 6" id="6"/>
          <p:cNvGraphicFramePr>
            <a:graphicFrameLocks noGrp="true"/>
          </p:cNvGraphicFramePr>
          <p:nvPr/>
        </p:nvGraphicFramePr>
        <p:xfrm>
          <a:off x="8128000" y="1168400"/>
          <a:ext cx="3810000" cy="2413000"/>
        </p:xfrm>
        <a:graphic>
          <a:graphicData uri="http://schemas.openxmlformats.org/drawingml/2006/chart">
            <c:chart r:id="rId4"/>
          </a:graphicData>
        </a:graphic>
      </p:graphicFrame>
      <p:graphicFrame>
        <p:nvGraphicFramePr>
          <p:cNvPr name="Chart 7" id="7"/>
          <p:cNvGraphicFramePr>
            <a:graphicFrameLocks noGrp="true"/>
          </p:cNvGraphicFramePr>
          <p:nvPr/>
        </p:nvGraphicFramePr>
        <p:xfrm>
          <a:off x="254000" y="3835400"/>
          <a:ext cx="3810000" cy="2413000"/>
        </p:xfrm>
        <a:graphic>
          <a:graphicData uri="http://schemas.openxmlformats.org/drawingml/2006/chart">
            <c:chart r:id="rId5"/>
          </a:graphicData>
        </a:graphic>
      </p:graphicFrame>
      <p:graphicFrame>
        <p:nvGraphicFramePr>
          <p:cNvPr name="Chart 8" id="8"/>
          <p:cNvGraphicFramePr>
            <a:graphicFrameLocks noGrp="true"/>
          </p:cNvGraphicFramePr>
          <p:nvPr/>
        </p:nvGraphicFramePr>
        <p:xfrm>
          <a:off x="4191000" y="3835400"/>
          <a:ext cx="7747000" cy="2413000"/>
        </p:xfrm>
        <a:graphic>
          <a:graphicData uri="http://schemas.openxmlformats.org/drawingml/2006/chart">
            <c:chart r:id="rId6"/>
          </a:graphicData>
        </a:graphic>
      </p:graphicFrame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304800" y="152400"/>
            <a:ext cx="10922000" cy="508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true">
                <a:solidFill>
                  <a:srgbClr val="6B7280"/>
                </a:solidFill>
                <a:ea typeface="Source Sans 3"/>
              </a:rPr>
              <a:t>决策请求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1016000" y="1524000"/>
            <a:ext cx="10160000" cy="3619500"/>
          </a:xfrm>
          <a:prstGeom prst="rect">
            <a:avLst/>
          </a:prstGeom>
          <a:solidFill>
            <a:srgbClr val="F8FB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2300" b="false">
                <a:solidFill>
                  <a:srgbClr val="1F2937"/>
                </a:solidFill>
                <a:ea typeface="Source Sans 3"/>
              </a:rPr>
              <a:t>决策请求：
1) 批准下季度链路治理与发布门禁专项预算。
2) 确认“重复故障压降”作为集团级质量目标。
3) 同意对 SMB 客群启动体验修复与续费提升专项。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