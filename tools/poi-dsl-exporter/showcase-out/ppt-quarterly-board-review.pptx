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officedocument.drawingml.chart+xml" PartName="/ppt/charts/chart3.xml"/>
  <Override ContentType="application/vnd.openxmlformats-officedocument.drawingml.chart+xml" PartName="/ppt/charts/chart4.xml"/>
  <Override ContentType="application/vnd.openxmlformats-officedocument.drawingml.chart+xml" PartName="/ppt/charts/chart5.xml"/>
  <Override ContentType="application/vnd.openxmlformats-officedocument.drawingml.chart+xml" PartName="/ppt/charts/chart6.xml"/>
  <Override ContentType="application/vnd.openxmlformats-officedocument.drawingml.chart+xml" PartName="/ppt/charts/chart7.xml"/>
  <Override ContentType="application/vnd.openxmlformats-officedocument.drawingml.chart+xml" PartName="/ppt/charts/chart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_rels/chart2.xml.rels><?xml version="1.0" encoding="UTF-8" standalone="yes"?><Relationships xmlns="http://schemas.openxmlformats.org/package/2006/relationships"><Relationship Id="rId1" Target="../embeddings/Microsoft_Excel_Worksheet2.xlsx" Type="http://schemas.openxmlformats.org/officeDocument/2006/relationships/package"/></Relationships>
</file>

<file path=ppt/charts/_rels/chart3.xml.rels><?xml version="1.0" encoding="UTF-8" standalone="yes"?><Relationships xmlns="http://schemas.openxmlformats.org/package/2006/relationships"><Relationship Id="rId1" Target="../embeddings/Microsoft_Excel_Worksheet3.xlsx" Type="http://schemas.openxmlformats.org/officeDocument/2006/relationships/package"/></Relationships>
</file>

<file path=ppt/charts/_rels/chart4.xml.rels><?xml version="1.0" encoding="UTF-8" standalone="yes"?><Relationships xmlns="http://schemas.openxmlformats.org/package/2006/relationships"><Relationship Id="rId1" Target="../embeddings/Microsoft_Excel_Worksheet4.xlsx" Type="http://schemas.openxmlformats.org/officeDocument/2006/relationships/package"/></Relationships>
</file>

<file path=ppt/charts/_rels/chart5.xml.rels><?xml version="1.0" encoding="UTF-8" standalone="yes"?><Relationships xmlns="http://schemas.openxmlformats.org/package/2006/relationships"><Relationship Id="rId1" Target="../embeddings/Microsoft_Excel_Worksheet5.xlsx" Type="http://schemas.openxmlformats.org/officeDocument/2006/relationships/package"/></Relationships>
</file>

<file path=ppt/charts/_rels/chart6.xml.rels><?xml version="1.0" encoding="UTF-8" standalone="yes"?><Relationships xmlns="http://schemas.openxmlformats.org/package/2006/relationships"><Relationship Id="rId1" Target="../embeddings/Microsoft_Excel_Worksheet6.xlsx" Type="http://schemas.openxmlformats.org/officeDocument/2006/relationships/package"/></Relationships>
</file>

<file path=ppt/charts/_rels/chart7.xml.rels><?xml version="1.0" encoding="UTF-8" standalone="yes"?><Relationships xmlns="http://schemas.openxmlformats.org/package/2006/relationships"><Relationship Id="rId1" Target="../embeddings/Microsoft_Excel_Worksheet7.xlsx" Type="http://schemas.openxmlformats.org/officeDocument/2006/relationships/package"/></Relationships>
</file>

<file path=ppt/charts/_rels/chart8.xml.rels><?xml version="1.0" encoding="UTF-8" standalone="yes"?><Relationships xmlns="http://schemas.openxmlformats.org/package/2006/relationships"><Relationship Id="rId1" Target="../embeddings/Microsoft_Excel_Worksheet8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GMV 趋势（分渠道）</a:t>
            </a:r>
            <a:endParaRPr lang="en-US" sz="1100"/>
          </a:p>
        </c:rich>
      </c:tx>
      <c:layout/>
      <c:overlay val="false"/>
    </c:title>
    <c:plotArea>
      <c:lineChart>
        <c:ser>
          <c:idx val="0"/>
          <c:order val="0"/>
          <c:tx>
            <c:v>APP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120.0</c:v>
              </c:pt>
              <c:pt idx="1">
                <c:v>132.0</c:v>
              </c:pt>
              <c:pt idx="2">
                <c:v>146.0</c:v>
              </c:pt>
            </c:numLit>
          </c:val>
        </c:ser>
        <c:ser>
          <c:idx val="1"/>
          <c:order val="1"/>
          <c:tx>
            <c:v>Web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82.0</c:v>
              </c:pt>
              <c:pt idx="1">
                <c:v>90.0</c:v>
              </c:pt>
              <c:pt idx="2">
                <c:v>98.0</c:v>
              </c:pt>
            </c:numLit>
          </c:val>
        </c:ser>
        <c:axId val="0"/>
        <c:axId val="1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month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gmv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SLA 与错误QPS周趋势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sla_pct</c:v>
          </c:tx>
          <c:cat>
            <c:strLit>
              <c:ptCount val="4"/>
              <c:pt idx="0">
                <c:v>W1</c:v>
              </c:pt>
              <c:pt idx="1">
                <c:v>W2</c:v>
              </c:pt>
              <c:pt idx="2">
                <c:v>W3</c:v>
              </c:pt>
              <c:pt idx="3">
                <c:v>W4</c:v>
              </c:pt>
            </c:strLit>
          </c:cat>
          <c:val>
            <c:numLit>
              <c:ptCount val="4"/>
              <c:pt idx="0">
                <c:v>99.95</c:v>
              </c:pt>
              <c:pt idx="1">
                <c:v>99.96</c:v>
              </c:pt>
              <c:pt idx="2">
                <c:v>99.97</c:v>
              </c:pt>
              <c:pt idx="3">
                <c:v>99.98</c:v>
              </c:pt>
            </c:numLit>
          </c:val>
        </c:ser>
        <c:axId val="0"/>
        <c:axId val="1"/>
      </c:barChart>
      <c:lineChart>
        <c:ser>
          <c:idx val="1"/>
          <c:order val="1"/>
          <c:tx>
            <c:v>err_qps</c:v>
          </c:tx>
          <c:cat>
            <c:strLit>
              <c:ptCount val="4"/>
              <c:pt idx="0">
                <c:v>W1</c:v>
              </c:pt>
              <c:pt idx="1">
                <c:v>W2</c:v>
              </c:pt>
              <c:pt idx="2">
                <c:v>W3</c:v>
              </c:pt>
              <c:pt idx="3">
                <c:v>W4</c:v>
              </c:pt>
            </c:strLit>
          </c:cat>
          <c:val>
            <c:numLit>
              <c:ptCount val="4"/>
              <c:pt idx="0">
                <c:v>56.0</c:v>
              </c:pt>
              <c:pt idx="1">
                <c:v>49.0</c:v>
              </c:pt>
              <c:pt idx="2">
                <c:v>43.0</c:v>
              </c:pt>
              <c:pt idx="3">
                <c:v>38.0</c:v>
              </c:pt>
            </c:numLit>
          </c:val>
        </c:ser>
        <c:axId val="0"/>
        <c:axId val="2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week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sla_pct, err_qps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  <c:valAx>
        <c:axId val="2"/>
        <c:scaling>
          <c:orientation val="minMax"/>
        </c:scaling>
        <c:delete val="false"/>
        <c:axPos val="r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err_qps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风险暴露评分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score</c:v>
          </c:tx>
          <c:cat>
            <c:strLit>
              <c:ptCount val="4"/>
              <c:pt idx="0">
                <c:v>跨区流量波动</c:v>
              </c:pt>
              <c:pt idx="1">
                <c:v>告警噪声积压</c:v>
              </c:pt>
              <c:pt idx="2">
                <c:v>变更窗口冲突</c:v>
              </c:pt>
              <c:pt idx="3">
                <c:v>容量冗余不足</c:v>
              </c:pt>
            </c:strLit>
          </c:cat>
          <c:val>
            <c:numLit>
              <c:ptCount val="4"/>
              <c:pt idx="0">
                <c:v>78.0</c:v>
              </c:pt>
              <c:pt idx="1">
                <c:v>66.0</c:v>
              </c:pt>
              <c:pt idx="2">
                <c:v>63.0</c:v>
              </c:pt>
              <c:pt idx="3">
                <c:v>58.0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risk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score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时延 vs 错误QPS</a:t>
            </a:r>
            <a:endParaRPr lang="en-US" sz="1100"/>
          </a:p>
        </c:rich>
      </c:tx>
      <c:layout/>
      <c:overlay val="false"/>
    </c:title>
    <c:plotArea>
      <c:scatterChart>
        <c:ser>
          <c:idx val="0"/>
          <c:order val="0"/>
          <c:tx>
            <c:v>err_qps</c:v>
          </c:tx>
          <c:marker>
            <c:symbol val="none"/>
          </c:marker>
          <c:xVal>
            <c:numLit>
              <c:ptCount val="4"/>
              <c:pt idx="0">
                <c:v>1.0</c:v>
              </c:pt>
              <c:pt idx="1">
                <c:v>2.0</c:v>
              </c:pt>
              <c:pt idx="2">
                <c:v>3.0</c:v>
              </c:pt>
              <c:pt idx="3">
                <c:v>4.0</c:v>
              </c:pt>
            </c:numLit>
          </c:xVal>
          <c:yVal>
            <c:numLit>
              <c:ptCount val="4"/>
              <c:pt idx="0">
                <c:v>56.0</c:v>
              </c:pt>
              <c:pt idx="1">
                <c:v>49.0</c:v>
              </c:pt>
              <c:pt idx="2">
                <c:v>43.0</c:v>
              </c:pt>
              <c:pt idx="3">
                <c:v>38.0</c:v>
              </c:pt>
            </c:numLit>
          </c:yVal>
        </c:ser>
        <c:axId val="0"/>
        <c:axId val="1"/>
      </c:scatterChart>
      <c:val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latency_ms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crossBetween val="midCat"/>
      </c:val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err_qps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风险雷达</a:t>
            </a:r>
            <a:endParaRPr lang="en-US" sz="1100"/>
          </a:p>
        </c:rich>
      </c:tx>
      <c:layout/>
      <c:overlay val="false"/>
    </c:title>
    <c:plotArea>
      <c:radarChart>
        <c:ser>
          <c:idx val="0"/>
          <c:order val="0"/>
          <c:tx>
            <c:v>score</c:v>
          </c:tx>
          <c:cat>
            <c:strLit>
              <c:ptCount val="4"/>
              <c:pt idx="0">
                <c:v>跨区流量波动</c:v>
              </c:pt>
              <c:pt idx="1">
                <c:v>告警噪声积压</c:v>
              </c:pt>
              <c:pt idx="2">
                <c:v>变更窗口冲突</c:v>
              </c:pt>
              <c:pt idx="3">
                <c:v>容量冗余不足</c:v>
              </c:pt>
            </c:strLit>
          </c:cat>
          <c:val>
            <c:numLit>
              <c:ptCount val="4"/>
              <c:pt idx="0">
                <c:v>78.0</c:v>
              </c:pt>
              <c:pt idx="1">
                <c:v>66.0</c:v>
              </c:pt>
              <c:pt idx="2">
                <c:v>63.0</c:v>
              </c:pt>
              <c:pt idx="3">
                <c:v>58.0</c:v>
              </c:pt>
            </c:numLit>
          </c:val>
        </c:ser>
        <c:axId val="0"/>
        <c:axId val="1"/>
      </c:rad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risk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score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风险树图</a:t>
            </a:r>
            <a:endParaRPr lang="en-US" sz="1100"/>
          </a:p>
        </c:rich>
      </c:tx>
      <c:layout/>
      <c:overlay val="false"/>
    </c:title>
    <c:plotArea>
      <c:pieChart>
        <c:ser>
          <c:idx val="0"/>
          <c:order val="0"/>
          <c:tx>
            <c:v>score</c:v>
          </c:tx>
          <c:cat>
            <c:strLit>
              <c:ptCount val="4"/>
              <c:pt idx="0">
                <c:v>跨区流量波动</c:v>
              </c:pt>
              <c:pt idx="1">
                <c:v>告警噪声积压</c:v>
              </c:pt>
              <c:pt idx="2">
                <c:v>变更窗口冲突</c:v>
              </c:pt>
              <c:pt idx="3">
                <c:v>容量冗余不足</c:v>
              </c:pt>
            </c:strLit>
          </c:cat>
          <c:val>
            <c:numLit>
              <c:ptCount val="4"/>
              <c:pt idx="0">
                <c:v>78.0</c:v>
              </c:pt>
              <c:pt idx="1">
                <c:v>66.0</c:v>
              </c:pt>
              <c:pt idx="2">
                <c:v>63.0</c:v>
              </c:pt>
              <c:pt idx="3">
                <c:v>58.0</c:v>
              </c:pt>
            </c:numLit>
          </c:val>
        </c:ser>
      </c:pieChart>
    </c:plotArea>
    <c:legend>
      <c:legendPos val="t"/>
      <c:overlay val="false"/>
    </c:legend>
  </c:chart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SLA 指针</a:t>
            </a:r>
            <a:endParaRPr lang="en-US" sz="1100"/>
          </a:p>
        </c:rich>
      </c:tx>
      <c:layout/>
      <c:overlay val="false"/>
    </c:title>
    <c:plotArea>
      <c:pieChart>
        <c:ser>
          <c:idx val="0"/>
          <c:order val="0"/>
          <c:tx>
            <c:v>gauge</c:v>
          </c:tx>
          <c:cat>
            <c:strLit>
              <c:ptCount val="2"/>
              <c:pt idx="0">
                <c:v>value</c:v>
              </c:pt>
              <c:pt idx="1">
                <c:v>rest</c:v>
              </c:pt>
            </c:strLit>
          </c:cat>
          <c:val>
            <c:numLit>
              <c:ptCount val="2"/>
              <c:pt idx="0">
                <c:v>99.965</c:v>
              </c:pt>
              <c:pt idx="1">
                <c:v>0.03499999999999659</c:v>
              </c:pt>
            </c:numLit>
          </c:val>
        </c:ser>
      </c:pieChart>
    </c:plotArea>
    <c:legend>
      <c:legendPos val="t"/>
      <c:overlay val="false"/>
    </c:legend>
  </c:chart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风险到客户影响路径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value</c:v>
          </c:tx>
          <c:cat>
            <c:strLit>
              <c:ptCount val="4"/>
              <c:pt idx="0">
                <c:v>Row 1</c:v>
              </c:pt>
              <c:pt idx="1">
                <c:v>Row 2</c:v>
              </c:pt>
              <c:pt idx="2">
                <c:v>Row 3</c:v>
              </c:pt>
              <c:pt idx="3">
                <c:v>Row 4</c:v>
              </c:pt>
            </c:strLit>
          </c:cat>
          <c:val>
            <c:numLit>
              <c:ptCount val="4"/>
              <c:pt idx="0">
                <c:v>22.0</c:v>
              </c:pt>
              <c:pt idx="1">
                <c:v>18.0</c:v>
              </c:pt>
              <c:pt idx="2">
                <c:v>15.0</c:v>
              </c:pt>
              <c:pt idx="3">
                <c:v>12.0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x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value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1.xml" Type="http://schemas.openxmlformats.org/officeDocument/2006/relationships/char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2.xml" Type="http://schemas.openxmlformats.org/officeDocument/2006/relationships/char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3.xml" Type="http://schemas.openxmlformats.org/officeDocument/2006/relationships/char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4.xml" Type="http://schemas.openxmlformats.org/officeDocument/2006/relationships/chart"/><Relationship Id="rId3" Target="../charts/chart5.xml" Type="http://schemas.openxmlformats.org/officeDocument/2006/relationships/chart"/><Relationship Id="rId4" Target="../charts/chart6.xml" Type="http://schemas.openxmlformats.org/officeDocument/2006/relationships/chart"/><Relationship Id="rId5" Target="../charts/chart7.xml" Type="http://schemas.openxmlformats.org/officeDocument/2006/relationships/chart"/><Relationship Id="rId6" Target="../charts/chart8.xml" Type="http://schemas.openxmlformats.org/officeDocument/2006/relationships/char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封面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841500"/>
            <a:ext cx="10414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4200" b="true">
                <a:solidFill>
                  <a:srgbClr val="1F2937"/>
                </a:solidFill>
                <a:ea typeface="Source Sans 3"/>
              </a:rPr>
              <a:t>季度经营与网络稳定性复盘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889000" y="3048000"/>
            <a:ext cx="10414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000" b="false">
                <a:solidFill>
                  <a:srgbClr val="1F2937"/>
                </a:solidFill>
                <a:latin typeface="Source Sans 3"/>
              </a:rPr>
              <a:t>Q1 Board Review · Internal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889000" y="4699000"/>
            <a:ext cx="10414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600" b="false">
                <a:solidFill>
                  <a:srgbClr val="1F2937"/>
                </a:solidFill>
                <a:ea typeface="Source Sans 3"/>
              </a:rPr>
              <a:t>汇报人：运营与平台联合团队  |  日期：2026-03-02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议程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143000" y="1143000"/>
            <a:ext cx="9906000" cy="4445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400" b="false">
                <a:solidFill>
                  <a:srgbClr val="1F2937"/>
                </a:solidFill>
                <a:latin typeface="Source Sans 3"/>
              </a:rPr>
              <a:t>1) 核心经营结果与趋势
2) 网络稳定性与客户体验
3) 关键风险与治理进展
4) 下季度投入与里程碑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管理层摘要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168400"/>
            <a:ext cx="10414000" cy="4572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结论：
- Q1 收入与利润双增长，APP 渠道持续拉动整体增长。
- SLA 稳定在 99.95% 以上，错误QPS连续下降。
- 风险主要集中在跨区流量与告警噪声，已进入专项治理阶段。
建议：
- 将预算优先配置到高ROI渠道与链路治理。
- 强化发布前校验与回滚演练，降低变更风险。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经营增长（图表 + 总结左右布局）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457200" y="1168400"/>
          <a:ext cx="5461000" cy="33655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name="TextBox 5" id="5"/>
          <p:cNvSpPr txBox="true"/>
          <p:nvPr/>
        </p:nvSpPr>
        <p:spPr>
          <a:xfrm>
            <a:off x="6248400" y="1168400"/>
            <a:ext cx="5461000" cy="33655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经营洞察：
1) APP 渠道增长斜率高于 Web。
2) 订单规模与留存同步改善。
3) 当前增长具备可持续性，建议加速高价值用户运营。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稳定性（图表 + 总结上下布局）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1016000" y="1168400"/>
          <a:ext cx="10160000" cy="2794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name="TextBox 5" id="5"/>
          <p:cNvSpPr txBox="true"/>
          <p:nvPr/>
        </p:nvSpPr>
        <p:spPr>
          <a:xfrm>
            <a:off x="1016000" y="4191000"/>
            <a:ext cx="10160000" cy="19685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稳定性结论：
- SLA 在 99.95%~99.98% 区间内稳定。
- 错误QPS下降 32%，故障处置效率明显提升。
- 下阶段聚焦低峰时段链路抖动与跨区流量均衡。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风险与行动计划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457200" y="1168400"/>
          <a:ext cx="5461000" cy="33655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name="TextBox 5" id="5"/>
          <p:cNvSpPr txBox="true"/>
          <p:nvPr/>
        </p:nvSpPr>
        <p:spPr>
          <a:xfrm>
            <a:off x="6248400" y="1168400"/>
            <a:ext cx="5461000" cy="4064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行动计划：
- 跨区流量：完成策略重算与灰度演练。
- 告警治理：压缩噪声告警 30%，优化值班效率。
- 变更风险：建立发布前一致性校验门禁。
目标：下季度将关键风险评分整体下调 10~15 分。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多图表类型视角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254000" y="1168400"/>
          <a:ext cx="3810000" cy="2413000"/>
        </p:xfrm>
        <a:graphic>
          <a:graphicData uri="http://schemas.openxmlformats.org/drawingml/2006/chart">
            <c:chart r:id="rId2"/>
          </a:graphicData>
        </a:graphic>
      </p:graphicFrame>
      <p:graphicFrame>
        <p:nvGraphicFramePr>
          <p:cNvPr name="Chart 5" id="5"/>
          <p:cNvGraphicFramePr>
            <a:graphicFrameLocks noGrp="true"/>
          </p:cNvGraphicFramePr>
          <p:nvPr/>
        </p:nvGraphicFramePr>
        <p:xfrm>
          <a:off x="4191000" y="1168400"/>
          <a:ext cx="3810000" cy="24130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name="Chart 6" id="6"/>
          <p:cNvGraphicFramePr>
            <a:graphicFrameLocks noGrp="true"/>
          </p:cNvGraphicFramePr>
          <p:nvPr/>
        </p:nvGraphicFramePr>
        <p:xfrm>
          <a:off x="8128000" y="1168400"/>
          <a:ext cx="3810000" cy="2413000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name="Chart 7" id="7"/>
          <p:cNvGraphicFramePr>
            <a:graphicFrameLocks noGrp="true"/>
          </p:cNvGraphicFramePr>
          <p:nvPr/>
        </p:nvGraphicFramePr>
        <p:xfrm>
          <a:off x="254000" y="3835400"/>
          <a:ext cx="3810000" cy="2413000"/>
        </p:xfrm>
        <a:graphic>
          <a:graphicData uri="http://schemas.openxmlformats.org/drawingml/2006/chart">
            <c:chart r:id="rId5"/>
          </a:graphicData>
        </a:graphic>
      </p:graphicFrame>
      <p:graphicFrame>
        <p:nvGraphicFramePr>
          <p:cNvPr name="Chart 8" id="8"/>
          <p:cNvGraphicFramePr>
            <a:graphicFrameLocks noGrp="true"/>
          </p:cNvGraphicFramePr>
          <p:nvPr/>
        </p:nvGraphicFramePr>
        <p:xfrm>
          <a:off x="4191000" y="3835400"/>
          <a:ext cx="7747000" cy="2413000"/>
        </p:xfrm>
        <a:graphic>
          <a:graphicData uri="http://schemas.openxmlformats.org/drawingml/2006/chart">
            <c:chart r:id="rId6"/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结语与决策请求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016000" y="1524000"/>
            <a:ext cx="10160000" cy="3556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200" b="false">
                <a:solidFill>
                  <a:srgbClr val="1F2937"/>
                </a:solidFill>
                <a:ea typeface="Source Sans 3"/>
              </a:rPr>
              <a:t>决策请求：
1) 批准链路治理与告警收敛专项预算。
2) 同意建立跨团队发布风险联审机制。
3) 确认下季度里程碑与周度追踪节奏。
谢谢。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