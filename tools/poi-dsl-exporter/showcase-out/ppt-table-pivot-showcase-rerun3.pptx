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AutoShape 3" id="3"/>
          <p:cNvSpPr/>
          <p:nvPr/>
        </p:nvSpPr>
        <p:spPr>
          <a:xfrm>
            <a:off x="304800" y="4953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4" id="4"/>
          <p:cNvSpPr txBox="true"/>
          <p:nvPr/>
        </p:nvSpPr>
        <p:spPr>
          <a:xfrm>
            <a:off x="304800" y="152400"/>
            <a:ext cx="11582400" cy="3302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285" b="true">
                <a:solidFill>
                  <a:srgbClr val="6B7280"/>
                </a:solidFill>
                <a:latin typeface="Source Sans 3"/>
              </a:rPr>
              <a:t>PPT Table Pivot Showcase · 透视表格（按月展开）</a:t>
            </a:r>
          </a:p>
        </p:txBody>
      </p:sp>
      <p:sp>
        <p:nvSpPr>
          <p:cNvPr name="AutoShape 5" id="5"/>
          <p:cNvSpPr/>
          <p:nvPr/>
        </p:nvSpPr>
        <p:spPr>
          <a:xfrm>
            <a:off x="304800" y="64262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6" id="6"/>
          <p:cNvSpPr txBox="true"/>
          <p:nvPr/>
        </p:nvSpPr>
        <p:spPr>
          <a:xfrm>
            <a:off x="304800" y="6451600"/>
            <a:ext cx="11582400" cy="2794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080">
                <a:solidFill>
                  <a:srgbClr val="6B7280"/>
                </a:solidFill>
                <a:latin typeface="Source Sans 3"/>
              </a:rPr>
              <a:t>Visual Document OS</a:t>
            </a:r>
            <a:r>
              <a:rPr lang="en-US" sz="1000">
                <a:solidFill>
                  <a:srgbClr val="6B7280"/>
                </a:solidFill>
                <a:latin typeface="Source Sans 3"/>
              </a:rPr>
              <a:t>    #1/1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57200" y="304800"/>
            <a:ext cx="11176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400" b="true">
                <a:solidFill>
                  <a:srgbClr val="1F2937"/>
                </a:solidFill>
                <a:ea typeface="Source Sans 3"/>
              </a:rPr>
              <a:t>区域错误QPS透视（Pivot）</a:t>
            </a:r>
          </a:p>
        </p:txBody>
      </p:sp>
      <p:graphicFrame>
        <p:nvGraphicFramePr>
          <p:cNvPr name="Table 8" id="8"/>
          <p:cNvGraphicFramePr>
            <a:graphicFrameLocks noGrp="true"/>
          </p:cNvGraphicFramePr>
          <p:nvPr/>
        </p:nvGraphicFramePr>
        <p:xfrm>
          <a:off x="1524000" y="1219200"/>
          <a:ext cx="9245600" cy="4191000"/>
        </p:xfrm>
        <a:graphic>
          <a:graphicData uri="http://schemas.openxmlformats.org/drawingml/2006/table">
            <a:tbl>
              <a:tblPr/>
              <a:tblGrid>
                <a:gridCol w="2425959"/>
                <a:gridCol w="2239347"/>
                <a:gridCol w="2239347"/>
                <a:gridCol w="2239347"/>
              </a:tblGrid>
              <a:tr h="812800">
                <a:tc rowSpan="2"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区域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错误QPS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 hMerge="true">
                  <a:txBody>
                    <a:bodyPr/>
                    <a:lstStyle/>
                    <a:p/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/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812800">
                <a:tc vMerge="true">
                  <a:txBody>
                    <a:bodyPr/>
                    <a:lstStyle/>
                    <a:p/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latin typeface="Source Sans 3"/>
                        </a:rPr>
                        <a:t>2026-01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latin typeface="Source Sans 3"/>
                        </a:rPr>
                        <a:t>2026-02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latin typeface="Source Sans 3"/>
                        </a:rPr>
                        <a:t>2026-03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华东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38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32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28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华北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45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40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35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华南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30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26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22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