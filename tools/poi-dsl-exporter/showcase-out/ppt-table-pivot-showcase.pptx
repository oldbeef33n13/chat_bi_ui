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透视表格（按月展开）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457200" y="304800"/>
            <a:ext cx="11176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2400" b="true">
                <a:solidFill>
                  <a:srgbClr val="1F2937"/>
                </a:solidFill>
                <a:ea typeface="Source Sans 3"/>
              </a:rPr>
              <a:t>区域错误QPS透视（Pivot）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524000" y="1219200"/>
          <a:ext cx="9245600" cy="4191000"/>
        </p:xfrm>
        <a:graphic>
          <a:graphicData uri="http://schemas.openxmlformats.org/drawingml/2006/table">
            <a:tbl>
              <a:tblPr/>
              <a:tblGrid>
                <a:gridCol w="2425959"/>
                <a:gridCol w="2239347"/>
                <a:gridCol w="2239347"/>
                <a:gridCol w="2239347"/>
              </a:tblGrid>
              <a:tr h="812800"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b="true">
                          <a:solidFill>
                            <a:srgbClr val="1F2937"/>
                          </a:solidFill>
                          <a:ea typeface="Source Sans 3"/>
                        </a:rPr>
                        <a:t>区域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b="true">
                          <a:solidFill>
                            <a:srgbClr val="1F2937"/>
                          </a:solidFill>
                          <a:ea typeface="Source Sans 3"/>
                        </a:rPr>
                        <a:t>错误QPS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 hMerge="true"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812800">
                <a:tc vMerge="true"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true">
                          <a:solidFill>
                            <a:srgbClr val="1F2937"/>
                          </a:solidFill>
                          <a:latin typeface="Source Sans 3"/>
                        </a:rPr>
                        <a:t>2026-01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true">
                          <a:solidFill>
                            <a:srgbClr val="1F2937"/>
                          </a:solidFill>
                          <a:latin typeface="Source Sans 3"/>
                        </a:rPr>
                        <a:t>2026-02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true">
                          <a:solidFill>
                            <a:srgbClr val="1F2937"/>
                          </a:solidFill>
                          <a:latin typeface="Source Sans 3"/>
                        </a:rPr>
                        <a:t>2026-03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lang="en-US" sz="1000" b="false">
                          <a:solidFill>
                            <a:srgbClr val="1F2937"/>
                          </a:solidFill>
                          <a:ea typeface="Source Sans 3"/>
                        </a:rPr>
                        <a:t>华东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38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32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28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lang="en-US" sz="1000" b="false">
                          <a:solidFill>
                            <a:srgbClr val="1F2937"/>
                          </a:solidFill>
                          <a:ea typeface="Source Sans 3"/>
                        </a:rPr>
                        <a:t>华北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45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40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35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lang="en-US" sz="1000" b="false">
                          <a:solidFill>
                            <a:srgbClr val="1F2937"/>
                          </a:solidFill>
                          <a:ea typeface="Source Sans 3"/>
                        </a:rPr>
                        <a:t>华南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30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26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22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