
<file path=[Content_Types].xml><?xml version="1.0" encoding="utf-8"?>
<Types xmlns="http://schemas.openxmlformats.org/package/2006/content-types">
  <Default ContentType="image/jpeg" Extension="jpe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slide1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</p:sp>
      <p:sp>
        <p:nvSpPr>
          <p:cNvPr name="TextBox 3" id="3"/>
          <p:cNvSpPr txBox="true"/>
          <p:nvPr/>
        </p:nvSpPr>
        <p:spPr>
          <a:xfrm>
            <a:off x="304800" y="152400"/>
            <a:ext cx="10922000" cy="508000"/>
          </a:xfrm>
          <a:prstGeom prst="rect">
            <a:avLst/>
          </a:prstGeom>
          <a:solidFill>
            <a:srgbClr val="FFFFFF">
              <a:alpha val="0"/>
            </a:srgbClr>
          </a:solidFill>
        </p:spPr>
        <p:txBody>
          <a:bodyPr anchor="t" rtlCol="false"/>
          <a:lstStyle/>
          <a:p>
            <a:pPr algn="l">
              <a:defRPr/>
            </a:pPr>
            <a:r>
              <a:rPr lang="zh-CN"/>
              <a:t/>
            </a:r>
            <a:endParaRPr lang="en-US" sz="1100"/>
          </a:p>
          <a:p>
            <a:pPr algn="l"/>
            <a:r>
              <a:rPr lang="en-US" sz="1400" b="true">
                <a:solidFill>
                  <a:srgbClr val="6B7280"/>
                </a:solidFill>
                <a:ea typeface="Source Sans 3"/>
              </a:rPr>
              <a:t>多级表头与原生合并</a:t>
            </a:r>
          </a:p>
        </p:txBody>
      </p:sp>
      <p:sp>
        <p:nvSpPr>
          <p:cNvPr name="TextBox 4" id="4"/>
          <p:cNvSpPr txBox="true"/>
          <p:nvPr/>
        </p:nvSpPr>
        <p:spPr>
          <a:xfrm>
            <a:off x="457200" y="304800"/>
            <a:ext cx="11176000" cy="609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F2"/>
            </a:solidFill>
          </a:ln>
        </p:spPr>
        <p:txBody>
          <a:bodyPr anchor="t" rtlCol="false"/>
          <a:lstStyle/>
          <a:p>
            <a:pPr algn="l">
              <a:defRPr/>
            </a:pPr>
            <a:r>
              <a:rPr lang="zh-CN"/>
              <a:t/>
            </a:r>
            <a:endParaRPr lang="en-US" sz="1100"/>
          </a:p>
          <a:p>
            <a:pPr algn="l"/>
            <a:r>
              <a:rPr lang="en-US" sz="2400" b="true">
                <a:solidFill>
                  <a:srgbClr val="1F2937"/>
                </a:solidFill>
                <a:ea typeface="Source Sans 3"/>
              </a:rPr>
              <a:t>区域站点质量明细（表头合并 + 数据区合并）</a:t>
            </a:r>
          </a:p>
        </p:txBody>
      </p:sp>
      <p:graphicFrame>
        <p:nvGraphicFramePr>
          <p:cNvPr name="Table 5" id="5"/>
          <p:cNvGraphicFramePr>
            <a:graphicFrameLocks noGrp="true"/>
          </p:cNvGraphicFramePr>
          <p:nvPr/>
        </p:nvGraphicFramePr>
        <p:xfrm>
          <a:off x="457200" y="1066800"/>
          <a:ext cx="11455402" cy="5181600"/>
        </p:xfrm>
        <a:graphic>
          <a:graphicData uri="http://schemas.openxmlformats.org/drawingml/2006/table">
            <a:tbl>
              <a:tblPr/>
              <a:tblGrid>
                <a:gridCol w="1573619"/>
                <a:gridCol w="1835888"/>
                <a:gridCol w="1573619"/>
                <a:gridCol w="1573619"/>
                <a:gridCol w="1573619"/>
                <a:gridCol w="1573619"/>
                <a:gridCol w="1573619"/>
              </a:tblGrid>
              <a:tr h="622300">
                <a:tc gridSpan="2">
                  <a:txBody>
                    <a:bodyPr/>
                    <a:lstStyle/>
                    <a:p>
                      <a:pPr algn="ctr"/>
                      <a:r>
                        <a:rPr lang="en-US" sz="1100" b="true">
                          <a:solidFill>
                            <a:srgbClr val="1F2937"/>
                          </a:solidFill>
                          <a:ea typeface="Source Sans 3"/>
                        </a:rPr>
                        <a:t>区域信息</a:t>
                      </a:r>
                    </a:p>
                  </a:txBody>
                  <a:tcPr anchor="ctr">
                    <a:lnL cmpd="sng" algn="ctr" cap="flat" w="9525">
                      <a:solidFill>
                        <a:srgbClr val="D7E3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7E3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7E3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7E3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AFE"/>
                    </a:solidFill>
                  </a:tcPr>
                </a:tc>
                <a:tc hMerge="true">
                  <a:txBody>
                    <a:bodyPr/>
                    <a:lstStyle/>
                    <a:p/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ctr"/>
                      <a:r>
                        <a:rPr lang="en-US" sz="1100" b="true">
                          <a:solidFill>
                            <a:srgbClr val="1F2937"/>
                          </a:solidFill>
                          <a:ea typeface="Source Sans 3"/>
                        </a:rPr>
                        <a:t>服务质量</a:t>
                      </a:r>
                    </a:p>
                  </a:txBody>
                  <a:tcPr anchor="ctr">
                    <a:lnL cmpd="sng" algn="ctr" cap="flat" w="9525">
                      <a:solidFill>
                        <a:srgbClr val="D7E3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7E3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7E3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7E3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AFE"/>
                    </a:solidFill>
                  </a:tcPr>
                </a:tc>
                <a:tc hMerge="true">
                  <a:txBody>
                    <a:bodyPr/>
                    <a:lstStyle/>
                    <a:p/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 hMerge="true">
                  <a:txBody>
                    <a:bodyPr/>
                    <a:lstStyle/>
                    <a:p/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n-US" sz="1100" b="true">
                          <a:solidFill>
                            <a:srgbClr val="1F2937"/>
                          </a:solidFill>
                          <a:ea typeface="Source Sans 3"/>
                        </a:rPr>
                        <a:t>告警态势</a:t>
                      </a:r>
                    </a:p>
                  </a:txBody>
                  <a:tcPr anchor="ctr">
                    <a:lnL cmpd="sng" algn="ctr" cap="flat" w="9525">
                      <a:solidFill>
                        <a:srgbClr val="D7E3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7E3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7E3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7E3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AFE"/>
                    </a:solidFill>
                  </a:tcPr>
                </a:tc>
                <a:tc hMerge="true">
                  <a:txBody>
                    <a:bodyPr/>
                    <a:lstStyle/>
                    <a:p/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622300">
                <a:tc>
                  <a:txBody>
                    <a:bodyPr/>
                    <a:lstStyle/>
                    <a:p>
                      <a:pPr algn="ctr"/>
                      <a:r>
                        <a:rPr lang="en-US" sz="1100" b="true">
                          <a:solidFill>
                            <a:srgbClr val="1F2937"/>
                          </a:solidFill>
                          <a:ea typeface="Source Sans 3"/>
                        </a:rPr>
                        <a:t>区域</a:t>
                      </a:r>
                    </a:p>
                  </a:txBody>
                  <a:tcPr anchor="ctr">
                    <a:lnL cmpd="sng" algn="ctr" cap="flat" w="9525">
                      <a:solidFill>
                        <a:srgbClr val="D7E3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7E3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7E3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7E3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AF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true">
                          <a:solidFill>
                            <a:srgbClr val="1F2937"/>
                          </a:solidFill>
                          <a:ea typeface="Source Sans 3"/>
                        </a:rPr>
                        <a:t>站点</a:t>
                      </a:r>
                    </a:p>
                  </a:txBody>
                  <a:tcPr anchor="ctr">
                    <a:lnL cmpd="sng" algn="ctr" cap="flat" w="9525">
                      <a:solidFill>
                        <a:srgbClr val="D7E3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7E3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7E3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7E3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AF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true">
                          <a:solidFill>
                            <a:srgbClr val="1F2937"/>
                          </a:solidFill>
                          <a:ea typeface="Source Sans 3"/>
                        </a:rPr>
                        <a:t>可用率</a:t>
                      </a:r>
                    </a:p>
                  </a:txBody>
                  <a:tcPr anchor="ctr">
                    <a:lnL cmpd="sng" algn="ctr" cap="flat" w="9525">
                      <a:solidFill>
                        <a:srgbClr val="D7E3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7E3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7E3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7E3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AF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true">
                          <a:solidFill>
                            <a:srgbClr val="1F2937"/>
                          </a:solidFill>
                          <a:ea typeface="Source Sans 3"/>
                        </a:rPr>
                        <a:t>时延(ms)</a:t>
                      </a:r>
                    </a:p>
                  </a:txBody>
                  <a:tcPr anchor="ctr">
                    <a:lnL cmpd="sng" algn="ctr" cap="flat" w="9525">
                      <a:solidFill>
                        <a:srgbClr val="D7E3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7E3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7E3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7E3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AF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true">
                          <a:solidFill>
                            <a:srgbClr val="1F2937"/>
                          </a:solidFill>
                          <a:ea typeface="Source Sans 3"/>
                        </a:rPr>
                        <a:t>丢包率</a:t>
                      </a:r>
                    </a:p>
                  </a:txBody>
                  <a:tcPr anchor="ctr">
                    <a:lnL cmpd="sng" algn="ctr" cap="flat" w="9525">
                      <a:solidFill>
                        <a:srgbClr val="D7E3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7E3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7E3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7E3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AF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true">
                          <a:solidFill>
                            <a:srgbClr val="1F2937"/>
                          </a:solidFill>
                          <a:ea typeface="Source Sans 3"/>
                        </a:rPr>
                        <a:t>告警总量</a:t>
                      </a:r>
                    </a:p>
                  </a:txBody>
                  <a:tcPr anchor="ctr">
                    <a:lnL cmpd="sng" algn="ctr" cap="flat" w="9525">
                      <a:solidFill>
                        <a:srgbClr val="D7E3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7E3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7E3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7E3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AF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true">
                          <a:solidFill>
                            <a:srgbClr val="1F2937"/>
                          </a:solidFill>
                          <a:latin typeface="Source Sans 3"/>
                        </a:rPr>
                        <a:t>P1告警</a:t>
                      </a:r>
                    </a:p>
                  </a:txBody>
                  <a:tcPr anchor="ctr">
                    <a:lnL cmpd="sng" algn="ctr" cap="flat" w="9525">
                      <a:solidFill>
                        <a:srgbClr val="D7E3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7E3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7E3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7E3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AFE"/>
                    </a:solidFill>
                  </a:tcPr>
                </a:tc>
              </a:tr>
              <a:tr h="622300">
                <a:tc rowSpan="2">
                  <a:txBody>
                    <a:bodyPr/>
                    <a:lstStyle/>
                    <a:p>
                      <a:pPr algn="l"/>
                      <a:r>
                        <a:rPr lang="en-US" sz="1000" b="false">
                          <a:solidFill>
                            <a:srgbClr val="1F2937"/>
                          </a:solidFill>
                          <a:ea typeface="Source Sans 3"/>
                        </a:rPr>
                        <a:t>华东</a:t>
                      </a:r>
                    </a:p>
                  </a:txBody>
                  <a:tcPr anchor="ctr">
                    <a:lnL cmpd="sng" algn="ctr" cap="flat" w="9525">
                      <a:solidFill>
                        <a:srgbClr val="D7E3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7E3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7E3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7E3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000" b="false">
                          <a:solidFill>
                            <a:srgbClr val="1F2937"/>
                          </a:solidFill>
                          <a:ea typeface="Source Sans 3"/>
                        </a:rPr>
                        <a:t>上海A</a:t>
                      </a:r>
                    </a:p>
                  </a:txBody>
                  <a:tcPr anchor="ctr">
                    <a:lnL cmpd="sng" algn="ctr" cap="flat" w="9525">
                      <a:solidFill>
                        <a:srgbClr val="D7E3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7E3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7E3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7E3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000" b="false">
                          <a:solidFill>
                            <a:srgbClr val="1F2937"/>
                          </a:solidFill>
                          <a:latin typeface="Source Sans 3"/>
                        </a:rPr>
                        <a:t>9997.00%</a:t>
                      </a:r>
                    </a:p>
                  </a:txBody>
                  <a:tcPr anchor="ctr">
                    <a:lnL cmpd="sng" algn="ctr" cap="flat" w="9525">
                      <a:solidFill>
                        <a:srgbClr val="D7E3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7E3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7E3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7E3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000" b="false">
                          <a:solidFill>
                            <a:srgbClr val="1F2937"/>
                          </a:solidFill>
                          <a:latin typeface="Source Sans 3"/>
                        </a:rPr>
                        <a:t>18</a:t>
                      </a:r>
                    </a:p>
                  </a:txBody>
                  <a:tcPr anchor="ctr">
                    <a:lnL cmpd="sng" algn="ctr" cap="flat" w="9525">
                      <a:solidFill>
                        <a:srgbClr val="D7E3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7E3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7E3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7E3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000" b="false">
                          <a:solidFill>
                            <a:srgbClr val="1F2937"/>
                          </a:solidFill>
                          <a:latin typeface="Source Sans 3"/>
                        </a:rPr>
                        <a:t>12.00%</a:t>
                      </a:r>
                    </a:p>
                  </a:txBody>
                  <a:tcPr anchor="ctr">
                    <a:lnL cmpd="sng" algn="ctr" cap="flat" w="9525">
                      <a:solidFill>
                        <a:srgbClr val="D7E3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7E3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7E3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7E3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000" b="false">
                          <a:solidFill>
                            <a:srgbClr val="1F2937"/>
                          </a:solidFill>
                          <a:latin typeface="Source Sans 3"/>
                        </a:rPr>
                        <a:t>12</a:t>
                      </a:r>
                    </a:p>
                  </a:txBody>
                  <a:tcPr anchor="ctr">
                    <a:lnL cmpd="sng" algn="ctr" cap="flat" w="9525">
                      <a:solidFill>
                        <a:srgbClr val="D7E3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7E3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7E3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7E3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000" b="false">
                          <a:solidFill>
                            <a:srgbClr val="1F2937"/>
                          </a:solidFill>
                          <a:latin typeface="Source Sans 3"/>
                        </a:rPr>
                        <a:t>1</a:t>
                      </a:r>
                    </a:p>
                  </a:txBody>
                  <a:tcPr anchor="ctr">
                    <a:lnL cmpd="sng" algn="ctr" cap="flat" w="9525">
                      <a:solidFill>
                        <a:srgbClr val="D7E3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7E3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7E3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7E3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22300">
                <a:tc vMerge="true">
                  <a:txBody>
                    <a:bodyPr/>
                    <a:lstStyle/>
                    <a:p/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000" b="false">
                          <a:solidFill>
                            <a:srgbClr val="1F2937"/>
                          </a:solidFill>
                          <a:ea typeface="Source Sans 3"/>
                        </a:rPr>
                        <a:t>杭州B</a:t>
                      </a:r>
                    </a:p>
                  </a:txBody>
                  <a:tcPr anchor="ctr">
                    <a:lnL cmpd="sng" algn="ctr" cap="flat" w="9525">
                      <a:solidFill>
                        <a:srgbClr val="D7E3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7E3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7E3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7E3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B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000" b="false">
                          <a:solidFill>
                            <a:srgbClr val="1F2937"/>
                          </a:solidFill>
                          <a:latin typeface="Source Sans 3"/>
                        </a:rPr>
                        <a:t>9995.00%</a:t>
                      </a:r>
                    </a:p>
                  </a:txBody>
                  <a:tcPr anchor="ctr">
                    <a:lnL cmpd="sng" algn="ctr" cap="flat" w="9525">
                      <a:solidFill>
                        <a:srgbClr val="D7E3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7E3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7E3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7E3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B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000" b="false">
                          <a:solidFill>
                            <a:srgbClr val="1F2937"/>
                          </a:solidFill>
                          <a:latin typeface="Source Sans 3"/>
                        </a:rPr>
                        <a:t>21</a:t>
                      </a:r>
                    </a:p>
                  </a:txBody>
                  <a:tcPr anchor="ctr">
                    <a:lnL cmpd="sng" algn="ctr" cap="flat" w="9525">
                      <a:solidFill>
                        <a:srgbClr val="D7E3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7E3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7E3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7E3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B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000" b="false">
                          <a:solidFill>
                            <a:srgbClr val="1F2937"/>
                          </a:solidFill>
                          <a:latin typeface="Source Sans 3"/>
                        </a:rPr>
                        <a:t>18.00%</a:t>
                      </a:r>
                    </a:p>
                  </a:txBody>
                  <a:tcPr anchor="ctr">
                    <a:lnL cmpd="sng" algn="ctr" cap="flat" w="9525">
                      <a:solidFill>
                        <a:srgbClr val="D7E3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7E3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7E3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7E3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B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000" b="false">
                          <a:solidFill>
                            <a:srgbClr val="1F2937"/>
                          </a:solidFill>
                          <a:latin typeface="Source Sans 3"/>
                        </a:rPr>
                        <a:t>16</a:t>
                      </a:r>
                    </a:p>
                  </a:txBody>
                  <a:tcPr anchor="ctr">
                    <a:lnL cmpd="sng" algn="ctr" cap="flat" w="9525">
                      <a:solidFill>
                        <a:srgbClr val="D7E3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7E3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7E3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7E3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B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000" b="false">
                          <a:solidFill>
                            <a:srgbClr val="1F2937"/>
                          </a:solidFill>
                          <a:latin typeface="Source Sans 3"/>
                        </a:rPr>
                        <a:t>2</a:t>
                      </a:r>
                    </a:p>
                  </a:txBody>
                  <a:tcPr anchor="ctr">
                    <a:lnL cmpd="sng" algn="ctr" cap="flat" w="9525">
                      <a:solidFill>
                        <a:srgbClr val="D7E3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7E3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7E3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7E3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BFF"/>
                    </a:solidFill>
                  </a:tcPr>
                </a:tc>
              </a:tr>
              <a:tr h="622300">
                <a:tc rowSpan="2">
                  <a:txBody>
                    <a:bodyPr/>
                    <a:lstStyle/>
                    <a:p>
                      <a:pPr algn="l"/>
                      <a:r>
                        <a:rPr lang="en-US" sz="1000" b="false">
                          <a:solidFill>
                            <a:srgbClr val="1F2937"/>
                          </a:solidFill>
                          <a:ea typeface="Source Sans 3"/>
                        </a:rPr>
                        <a:t>华北</a:t>
                      </a:r>
                    </a:p>
                  </a:txBody>
                  <a:tcPr anchor="ctr">
                    <a:lnL cmpd="sng" algn="ctr" cap="flat" w="9525">
                      <a:solidFill>
                        <a:srgbClr val="D7E3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7E3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7E3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7E3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000" b="false">
                          <a:solidFill>
                            <a:srgbClr val="1F2937"/>
                          </a:solidFill>
                          <a:ea typeface="Source Sans 3"/>
                        </a:rPr>
                        <a:t>北京A</a:t>
                      </a:r>
                    </a:p>
                  </a:txBody>
                  <a:tcPr anchor="ctr">
                    <a:lnL cmpd="sng" algn="ctr" cap="flat" w="9525">
                      <a:solidFill>
                        <a:srgbClr val="D7E3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7E3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7E3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7E3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000" b="false">
                          <a:solidFill>
                            <a:srgbClr val="1F2937"/>
                          </a:solidFill>
                          <a:latin typeface="Source Sans 3"/>
                        </a:rPr>
                        <a:t>9994.00%</a:t>
                      </a:r>
                    </a:p>
                  </a:txBody>
                  <a:tcPr anchor="ctr">
                    <a:lnL cmpd="sng" algn="ctr" cap="flat" w="9525">
                      <a:solidFill>
                        <a:srgbClr val="D7E3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7E3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7E3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7E3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000" b="false">
                          <a:solidFill>
                            <a:srgbClr val="1F2937"/>
                          </a:solidFill>
                          <a:latin typeface="Source Sans 3"/>
                        </a:rPr>
                        <a:t>23</a:t>
                      </a:r>
                    </a:p>
                  </a:txBody>
                  <a:tcPr anchor="ctr">
                    <a:lnL cmpd="sng" algn="ctr" cap="flat" w="9525">
                      <a:solidFill>
                        <a:srgbClr val="D7E3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7E3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7E3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7E3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000" b="false">
                          <a:solidFill>
                            <a:srgbClr val="1F2937"/>
                          </a:solidFill>
                          <a:latin typeface="Source Sans 3"/>
                        </a:rPr>
                        <a:t>22.00%</a:t>
                      </a:r>
                    </a:p>
                  </a:txBody>
                  <a:tcPr anchor="ctr">
                    <a:lnL cmpd="sng" algn="ctr" cap="flat" w="9525">
                      <a:solidFill>
                        <a:srgbClr val="D7E3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7E3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7E3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7E3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000" b="false">
                          <a:solidFill>
                            <a:srgbClr val="1F2937"/>
                          </a:solidFill>
                          <a:latin typeface="Source Sans 3"/>
                        </a:rPr>
                        <a:t>20</a:t>
                      </a:r>
                    </a:p>
                  </a:txBody>
                  <a:tcPr anchor="ctr">
                    <a:lnL cmpd="sng" algn="ctr" cap="flat" w="9525">
                      <a:solidFill>
                        <a:srgbClr val="D7E3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7E3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7E3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7E3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000" b="false">
                          <a:solidFill>
                            <a:srgbClr val="1F2937"/>
                          </a:solidFill>
                          <a:latin typeface="Source Sans 3"/>
                        </a:rPr>
                        <a:t>3</a:t>
                      </a:r>
                    </a:p>
                  </a:txBody>
                  <a:tcPr anchor="ctr">
                    <a:lnL cmpd="sng" algn="ctr" cap="flat" w="9525">
                      <a:solidFill>
                        <a:srgbClr val="D7E3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7E3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7E3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7E3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22300">
                <a:tc vMerge="true">
                  <a:txBody>
                    <a:bodyPr/>
                    <a:lstStyle/>
                    <a:p/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000" b="false">
                          <a:solidFill>
                            <a:srgbClr val="1F2937"/>
                          </a:solidFill>
                          <a:ea typeface="Source Sans 3"/>
                        </a:rPr>
                        <a:t>天津C</a:t>
                      </a:r>
                    </a:p>
                  </a:txBody>
                  <a:tcPr anchor="ctr">
                    <a:lnL cmpd="sng" algn="ctr" cap="flat" w="9525">
                      <a:solidFill>
                        <a:srgbClr val="D7E3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7E3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7E3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7E3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B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000" b="false">
                          <a:solidFill>
                            <a:srgbClr val="1F2937"/>
                          </a:solidFill>
                          <a:latin typeface="Source Sans 3"/>
                        </a:rPr>
                        <a:t>9993.00%</a:t>
                      </a:r>
                    </a:p>
                  </a:txBody>
                  <a:tcPr anchor="ctr">
                    <a:lnL cmpd="sng" algn="ctr" cap="flat" w="9525">
                      <a:solidFill>
                        <a:srgbClr val="D7E3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7E3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7E3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7E3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B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000" b="false">
                          <a:solidFill>
                            <a:srgbClr val="1F2937"/>
                          </a:solidFill>
                          <a:latin typeface="Source Sans 3"/>
                        </a:rPr>
                        <a:t>24</a:t>
                      </a:r>
                    </a:p>
                  </a:txBody>
                  <a:tcPr anchor="ctr">
                    <a:lnL cmpd="sng" algn="ctr" cap="flat" w="9525">
                      <a:solidFill>
                        <a:srgbClr val="D7E3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7E3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7E3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7E3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B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000" b="false">
                          <a:solidFill>
                            <a:srgbClr val="1F2937"/>
                          </a:solidFill>
                          <a:latin typeface="Source Sans 3"/>
                        </a:rPr>
                        <a:t>26.00%</a:t>
                      </a:r>
                    </a:p>
                  </a:txBody>
                  <a:tcPr anchor="ctr">
                    <a:lnL cmpd="sng" algn="ctr" cap="flat" w="9525">
                      <a:solidFill>
                        <a:srgbClr val="D7E3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7E3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7E3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7E3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B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000" b="false">
                          <a:solidFill>
                            <a:srgbClr val="1F2937"/>
                          </a:solidFill>
                          <a:latin typeface="Source Sans 3"/>
                        </a:rPr>
                        <a:t>23</a:t>
                      </a:r>
                    </a:p>
                  </a:txBody>
                  <a:tcPr anchor="ctr">
                    <a:lnL cmpd="sng" algn="ctr" cap="flat" w="9525">
                      <a:solidFill>
                        <a:srgbClr val="D7E3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7E3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7E3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7E3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B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000" b="false">
                          <a:solidFill>
                            <a:srgbClr val="1F2937"/>
                          </a:solidFill>
                          <a:latin typeface="Source Sans 3"/>
                        </a:rPr>
                        <a:t>3</a:t>
                      </a:r>
                    </a:p>
                  </a:txBody>
                  <a:tcPr anchor="ctr">
                    <a:lnL cmpd="sng" algn="ctr" cap="flat" w="9525">
                      <a:solidFill>
                        <a:srgbClr val="D7E3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7E3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7E3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7E3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BFF"/>
                    </a:solidFill>
                  </a:tcPr>
                </a:tc>
              </a:tr>
              <a:tr h="622300">
                <a:tc rowSpan="2">
                  <a:txBody>
                    <a:bodyPr/>
                    <a:lstStyle/>
                    <a:p>
                      <a:pPr algn="l"/>
                      <a:r>
                        <a:rPr lang="en-US" sz="1000" b="false">
                          <a:solidFill>
                            <a:srgbClr val="1F2937"/>
                          </a:solidFill>
                          <a:ea typeface="Source Sans 3"/>
                        </a:rPr>
                        <a:t>华南</a:t>
                      </a:r>
                    </a:p>
                  </a:txBody>
                  <a:tcPr anchor="ctr">
                    <a:lnL cmpd="sng" algn="ctr" cap="flat" w="9525">
                      <a:solidFill>
                        <a:srgbClr val="D7E3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7E3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7E3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7E3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000" b="false">
                          <a:solidFill>
                            <a:srgbClr val="1F2937"/>
                          </a:solidFill>
                          <a:ea typeface="Source Sans 3"/>
                        </a:rPr>
                        <a:t>广州A</a:t>
                      </a:r>
                    </a:p>
                  </a:txBody>
                  <a:tcPr anchor="ctr">
                    <a:lnL cmpd="sng" algn="ctr" cap="flat" w="9525">
                      <a:solidFill>
                        <a:srgbClr val="D7E3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7E3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7E3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7E3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000" b="false">
                          <a:solidFill>
                            <a:srgbClr val="1F2937"/>
                          </a:solidFill>
                          <a:latin typeface="Source Sans 3"/>
                        </a:rPr>
                        <a:t>9996.00%</a:t>
                      </a:r>
                    </a:p>
                  </a:txBody>
                  <a:tcPr anchor="ctr">
                    <a:lnL cmpd="sng" algn="ctr" cap="flat" w="9525">
                      <a:solidFill>
                        <a:srgbClr val="D7E3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7E3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7E3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7E3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000" b="false">
                          <a:solidFill>
                            <a:srgbClr val="1F2937"/>
                          </a:solidFill>
                          <a:latin typeface="Source Sans 3"/>
                        </a:rPr>
                        <a:t>19</a:t>
                      </a:r>
                    </a:p>
                  </a:txBody>
                  <a:tcPr anchor="ctr">
                    <a:lnL cmpd="sng" algn="ctr" cap="flat" w="9525">
                      <a:solidFill>
                        <a:srgbClr val="D7E3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7E3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7E3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7E3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000" b="false">
                          <a:solidFill>
                            <a:srgbClr val="1F2937"/>
                          </a:solidFill>
                          <a:latin typeface="Source Sans 3"/>
                        </a:rPr>
                        <a:t>15.00%</a:t>
                      </a:r>
                    </a:p>
                  </a:txBody>
                  <a:tcPr anchor="ctr">
                    <a:lnL cmpd="sng" algn="ctr" cap="flat" w="9525">
                      <a:solidFill>
                        <a:srgbClr val="D7E3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7E3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7E3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7E3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000" b="false">
                          <a:solidFill>
                            <a:srgbClr val="1F2937"/>
                          </a:solidFill>
                          <a:latin typeface="Source Sans 3"/>
                        </a:rPr>
                        <a:t>14</a:t>
                      </a:r>
                    </a:p>
                  </a:txBody>
                  <a:tcPr anchor="ctr">
                    <a:lnL cmpd="sng" algn="ctr" cap="flat" w="9525">
                      <a:solidFill>
                        <a:srgbClr val="D7E3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7E3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7E3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7E3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000" b="false">
                          <a:solidFill>
                            <a:srgbClr val="1F2937"/>
                          </a:solidFill>
                          <a:latin typeface="Source Sans 3"/>
                        </a:rPr>
                        <a:t>1</a:t>
                      </a:r>
                    </a:p>
                  </a:txBody>
                  <a:tcPr anchor="ctr">
                    <a:lnL cmpd="sng" algn="ctr" cap="flat" w="9525">
                      <a:solidFill>
                        <a:srgbClr val="D7E3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7E3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7E3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7E3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22300">
                <a:tc vMerge="true">
                  <a:txBody>
                    <a:bodyPr/>
                    <a:lstStyle/>
                    <a:p/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000" b="false">
                          <a:solidFill>
                            <a:srgbClr val="1F2937"/>
                          </a:solidFill>
                          <a:ea typeface="Source Sans 3"/>
                        </a:rPr>
                        <a:t>深圳B</a:t>
                      </a:r>
                    </a:p>
                  </a:txBody>
                  <a:tcPr anchor="ctr">
                    <a:lnL cmpd="sng" algn="ctr" cap="flat" w="9525">
                      <a:solidFill>
                        <a:srgbClr val="D7E3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7E3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7E3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7E3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B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000" b="false">
                          <a:solidFill>
                            <a:srgbClr val="1F2937"/>
                          </a:solidFill>
                          <a:latin typeface="Source Sans 3"/>
                        </a:rPr>
                        <a:t>9995.00%</a:t>
                      </a:r>
                    </a:p>
                  </a:txBody>
                  <a:tcPr anchor="ctr">
                    <a:lnL cmpd="sng" algn="ctr" cap="flat" w="9525">
                      <a:solidFill>
                        <a:srgbClr val="D7E3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7E3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7E3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7E3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B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000" b="false">
                          <a:solidFill>
                            <a:srgbClr val="1F2937"/>
                          </a:solidFill>
                          <a:latin typeface="Source Sans 3"/>
                        </a:rPr>
                        <a:t>20</a:t>
                      </a:r>
                    </a:p>
                  </a:txBody>
                  <a:tcPr anchor="ctr">
                    <a:lnL cmpd="sng" algn="ctr" cap="flat" w="9525">
                      <a:solidFill>
                        <a:srgbClr val="D7E3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7E3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7E3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7E3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B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000" b="false">
                          <a:solidFill>
                            <a:srgbClr val="1F2937"/>
                          </a:solidFill>
                          <a:latin typeface="Source Sans 3"/>
                        </a:rPr>
                        <a:t>17.00%</a:t>
                      </a:r>
                    </a:p>
                  </a:txBody>
                  <a:tcPr anchor="ctr">
                    <a:lnL cmpd="sng" algn="ctr" cap="flat" w="9525">
                      <a:solidFill>
                        <a:srgbClr val="D7E3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7E3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7E3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7E3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B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000" b="false">
                          <a:solidFill>
                            <a:srgbClr val="1F2937"/>
                          </a:solidFill>
                          <a:latin typeface="Source Sans 3"/>
                        </a:rPr>
                        <a:t>17</a:t>
                      </a:r>
                    </a:p>
                  </a:txBody>
                  <a:tcPr anchor="ctr">
                    <a:lnL cmpd="sng" algn="ctr" cap="flat" w="9525">
                      <a:solidFill>
                        <a:srgbClr val="D7E3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7E3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7E3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7E3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B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000" b="false">
                          <a:solidFill>
                            <a:srgbClr val="1F2937"/>
                          </a:solidFill>
                          <a:latin typeface="Source Sans 3"/>
                        </a:rPr>
                        <a:t>2</a:t>
                      </a:r>
                    </a:p>
                  </a:txBody>
                  <a:tcPr anchor="ctr">
                    <a:lnL cmpd="sng" algn="ctr" cap="flat" w="9525">
                      <a:solidFill>
                        <a:srgbClr val="D7E3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7E3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7E3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7E3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B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terms:modified xsi:type="dcterms:W3CDTF">2011-08-01T06:04:30Z</dcterms:modified>
  <cp:revision>1</cp:revision>
</cp:coreProperties>
</file>