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304800" y="4953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04800" y="152400"/>
            <a:ext cx="11582400" cy="3302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285" b="true">
                <a:solidFill>
                  <a:srgbClr val="6B7280"/>
                </a:solidFill>
                <a:latin typeface="Source Sans 3"/>
              </a:rPr>
              <a:t>PPT Table Showcase · 多级表头与原生合并</a:t>
            </a:r>
          </a:p>
        </p:txBody>
      </p:sp>
      <p:sp>
        <p:nvSpPr>
          <p:cNvPr name="AutoShape 5" id="5"/>
          <p:cNvSpPr/>
          <p:nvPr/>
        </p:nvSpPr>
        <p:spPr>
          <a:xfrm>
            <a:off x="304800" y="64262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304800" y="6451600"/>
            <a:ext cx="11582400" cy="2794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080">
                <a:solidFill>
                  <a:srgbClr val="6B7280"/>
                </a:solidFill>
                <a:latin typeface="Source Sans 3"/>
              </a:rPr>
              <a:t>Visual Document OS</a:t>
            </a:r>
            <a:r>
              <a:rPr lang="en-US" sz="1000">
                <a:solidFill>
                  <a:srgbClr val="6B7280"/>
                </a:solidFill>
                <a:latin typeface="Source Sans 3"/>
              </a:rPr>
              <a:t>    #1/1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57200" y="304800"/>
            <a:ext cx="11176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400" b="true">
                <a:solidFill>
                  <a:srgbClr val="1F2937"/>
                </a:solidFill>
                <a:ea typeface="Source Sans 3"/>
              </a:rPr>
              <a:t>区域站点质量明细（表头合并 + 数据区合并）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457200" y="1066800"/>
          <a:ext cx="11455402" cy="5181600"/>
        </p:xfrm>
        <a:graphic>
          <a:graphicData uri="http://schemas.openxmlformats.org/drawingml/2006/table">
            <a:tbl>
              <a:tblPr/>
              <a:tblGrid>
                <a:gridCol w="1573619"/>
                <a:gridCol w="1835888"/>
                <a:gridCol w="1573619"/>
                <a:gridCol w="1573619"/>
                <a:gridCol w="1573619"/>
                <a:gridCol w="1573619"/>
                <a:gridCol w="1573619"/>
              </a:tblGrid>
              <a:tr h="6223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ea typeface="Source Sans 3"/>
                        </a:rPr>
                        <a:t>区域信息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 hMerge="true"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ea typeface="Source Sans 3"/>
                        </a:rPr>
                        <a:t>服务质量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 hMerge="true"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ea typeface="Source Sans 3"/>
                        </a:rPr>
                        <a:t>告警态势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 hMerge="true"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ea typeface="Source Sans 3"/>
                        </a:rPr>
                        <a:t>区域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ea typeface="Source Sans 3"/>
                        </a:rPr>
                        <a:t>站点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ea typeface="Source Sans 3"/>
                        </a:rPr>
                        <a:t>可用率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ea typeface="Source Sans 3"/>
                        </a:rPr>
                        <a:t>时延(ms)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ea typeface="Source Sans 3"/>
                        </a:rPr>
                        <a:t>丢包率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ea typeface="Source Sans 3"/>
                        </a:rPr>
                        <a:t>告警总量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latin typeface="Source Sans 3"/>
                        </a:rPr>
                        <a:t>P1告警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622300">
                <a:tc rowSpan="2"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华东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上海A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9997.00%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18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12.00%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12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2300">
                <a:tc vMerge="true"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杭州B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9995.00%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21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18.00%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16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622300">
                <a:tc rowSpan="2"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华北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北京A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9994.00%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23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22.00%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20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3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2300">
                <a:tc vMerge="true"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天津C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9993.00%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24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26.00%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23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3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622300">
                <a:tc rowSpan="2"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华南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广州A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9996.00%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19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15.00%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14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2300">
                <a:tc vMerge="true"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深圳B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9995.00%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20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17.00%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17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